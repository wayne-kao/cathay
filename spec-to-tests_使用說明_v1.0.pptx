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77095" y="22860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REQ</a:t>
            </a:r>
          </a:p>
        </p:txBody>
      </p:sp>
      <p:sp>
        <p:nvSpPr>
          <p:cNvPr id="4" name="Down Arrow 3"/>
          <p:cNvSpPr/>
          <p:nvPr/>
        </p:nvSpPr>
        <p:spPr>
          <a:xfrm>
            <a:off x="10518343" y="2907792"/>
            <a:ext cx="146304" cy="237744"/>
          </a:xfrm>
          <a:prstGeom prst="down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77095" y="32004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AC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518343" y="3822192"/>
            <a:ext cx="146304" cy="237744"/>
          </a:xfrm>
          <a:prstGeom prst="down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77095" y="41148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spec-to-tests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35808"/>
            <a:ext cx="1463040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從規格文件產出真的能測的測試案例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需求正規化 → 驗收條件 → 一對多測試案例，全程可追溯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26280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46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規格文件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67128" y="4663440"/>
            <a:ext cx="310896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9464" y="4526280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7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4663440"/>
            <a:ext cx="310896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4526280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7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9320" y="4663440"/>
            <a:ext cx="310896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6" y="4526280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測試案例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使用說明簡報　v1.0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對象：要用這支 Skill 產測試案例的 PM／BA／RD／QA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這份簡報回答四個問題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看完之後，你應該知道什麼時候該用它、它怎麼跑、以及它會在哪些地方擋你。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52317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01　</a:t>
            </a:r>
            <a:r>
              <a:rPr sz="1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為什麼需要它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規格模糊時，測試就得靠人力硬扛。這支 Skill 把那段硬扛變成可重複的流程。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1588" y="1901952"/>
            <a:ext cx="52317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02　</a:t>
            </a:r>
            <a:r>
              <a:rPr sz="1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它怎麼跑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六個階段：盤點 → 萃取 → 需求 → 驗收條件 → 展開案例 → 檢查。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7600"/>
            <a:ext cx="52317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03　</a:t>
            </a:r>
            <a:r>
              <a:rPr sz="1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我要怎麼用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把文件交給它，分批產出，收尾一定要跑檢查腳本。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1588" y="3657600"/>
            <a:ext cx="52317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04　</a:t>
            </a:r>
            <a:r>
              <a:rPr sz="1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它會擋我什麼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衝突不准自己裁決、現成的不准重做、步驟不准寫樣板句。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為什麼需要這支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這三件事不是假設，是同一個模組上一次手工產測試案例時真的發生的。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84832"/>
            <a:ext cx="3442106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1945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一條需求只長出一條案例</a:t>
            </a:r>
          </a:p>
          <a:p>
            <a:pPr algn="l">
              <a:lnSpc>
                <a:spcPct val="14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26 條需求對到 26 條驗收條件、再對到 26 條測試案例。一條牽涉 4 個欄位、2 種角色、多個錯誤碼的規則，只有一條案例在測。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304288"/>
            <a:ext cx="502920" cy="508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4794" y="2084832"/>
            <a:ext cx="3442106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1945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步驟是樣板，照著做不出來</a:t>
            </a:r>
          </a:p>
          <a:p>
            <a:pPr algn="l">
              <a:lnSpc>
                <a:spcPct val="14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「執行觸發動作：」「將實際結果與預期逐項比對」——測試人員拿到手上，還是得自己回去翻規格重寫一遍。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4250" y="2304288"/>
            <a:ext cx="502920" cy="508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1221" y="2084832"/>
            <a:ext cx="3442106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1945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文件裡已經有的，又重寫一次</a:t>
            </a:r>
          </a:p>
          <a:p>
            <a:pPr algn="l">
              <a:lnSpc>
                <a:spcPct val="14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PRD 有 13 條測試案例草案、Bible 有 8 條驗收範例與 12 條測試矩陣，全部被忽略後重新發明。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0677" y="2304288"/>
            <a:ext cx="502920" cy="508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4480560"/>
            <a:ext cx="10874959" cy="86868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觀念對照　</a:t>
            </a:r>
            <a:r>
              <a:rPr sz="13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規格寫得越模糊，測試階段就越要靠人力硬扛，效益自然消失。這支 Skill 的做法是：模糊的地方不猜，直接留成待確認清單讓它被看見。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480560"/>
            <a:ext cx="5080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觀念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地基一：誰負責定義「什麼叫做對」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Skill 讀文件時就是照這個分層在判斷權威，不是誰的文件層級高就聽誰的。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39112"/>
            <a:ext cx="10874959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Bible</a:t>
            </a:r>
            <a:r>
              <a:rPr sz="19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憲法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6350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22585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全專案共通的規則、術語、跨模組行為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225856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共用驗收基準、風險評級標準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08376"/>
            <a:ext cx="10874959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PRD</a:t>
            </a:r>
            <a:r>
              <a:rPr sz="19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合約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008376"/>
            <a:ext cx="63500" cy="841248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32278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使用者要什麼、什麼叫做做對了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8" y="322783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AC 驗收條件（業務語言）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77640"/>
            <a:ext cx="10874959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SRS</a:t>
            </a:r>
            <a:r>
              <a:rPr sz="19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施工圖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977640"/>
            <a:ext cx="63500" cy="84124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41970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系統要怎麼做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419709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TC 測試案例（可執行）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56632"/>
            <a:ext cx="10874959" cy="1207008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741F"/>
                </a:solidFill>
                <a:latin typeface="Microsoft JhengHei"/>
                <a:ea typeface="Microsoft JhengHei"/>
                <a:cs typeface="Microsoft JhengHei"/>
              </a:rPr>
              <a:t>按面向決定權威　</a:t>
            </a: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業務意圖、角色責任、流程與狀態語意 → 聽 Bible；功能範圍與驗收邊界 → 聽 PRD；欄位、API、資料表、錯誤碼 → 聽 SRS。
但不管採用哪一方，跨層矛盾一律另外記成待確認事項。仲裁只是讓流程往下走，不是宣告答案。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56632"/>
            <a:ext cx="50800" cy="1207008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觀念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地基二：用 ID 把四層串起來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Skill 產出的每一條都帶著來源，所以「為何而測、改了要改哪、測完了沒」都問得出答案。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0874959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Bible</a:t>
            </a:r>
            <a:r>
              <a:rPr sz="13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業務規則　</a:t>
            </a:r>
            <a:r>
              <a:rPr sz="13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參考案件須為 approved／conditioned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63500" cy="5852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1316736" y="2606040"/>
            <a:ext cx="137160" cy="182880"/>
          </a:xfrm>
          <a:prstGeom prst="down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816352"/>
            <a:ext cx="10372039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  <a:r>
              <a:rPr sz="13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STT-REQ-024　</a:t>
            </a:r>
            <a:r>
              <a:rPr sz="13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建案時必須驗證參考案件資格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2816352"/>
            <a:ext cx="63500" cy="585216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819656" y="3410712"/>
            <a:ext cx="137160" cy="182880"/>
          </a:xfrm>
          <a:prstGeom prst="down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4208" y="3621024"/>
            <a:ext cx="9869119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  <a:r>
              <a:rPr sz="13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STT-AC-033　</a:t>
            </a:r>
            <a:r>
              <a:rPr sz="13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選了不合格案件 → 不可建案並提示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3621024"/>
            <a:ext cx="63500" cy="585216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2322576" y="4215384"/>
            <a:ext cx="137160" cy="182880"/>
          </a:xfrm>
          <a:prstGeom prst="down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67128" y="4425696"/>
            <a:ext cx="9366199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測試案例</a:t>
            </a:r>
            <a:r>
              <a:rPr sz="13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STT-TC-0xx　</a:t>
            </a:r>
            <a:r>
              <a:rPr sz="13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具體資料、操作、預期回應、資料表驗證點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7128" y="4425696"/>
            <a:ext cx="63500" cy="58521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5193792"/>
            <a:ext cx="3472586" cy="8412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這條測試為什麼要測？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往上查得到業務理由，趕工時才不會被隨便砍掉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9554" y="5193792"/>
            <a:ext cx="3472586" cy="8412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業務規則改了，哪些要跟著改？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往下一查就知道影響範圍，不必全部重測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0741" y="5193792"/>
            <a:ext cx="3472586" cy="8412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上線前到底測完了沒？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每條驗收條件都能問「對應的案例過了嗎」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核心流程：六個階段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每個階段都有明確產出，做完一段就先落檔，不要等全部做完才寫。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1764" y="2103120"/>
            <a:ext cx="157276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盤點文件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判斷型別</a:t>
            </a:r>
          </a:p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登錄來源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851764" y="2103120"/>
            <a:ext cx="1572768" cy="63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451964" y="2843784"/>
            <a:ext cx="155448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1764" y="3877056"/>
            <a:ext cx="1572768" cy="3840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4844" y="2103120"/>
            <a:ext cx="157276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萃取現成資產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文件裡已有的</a:t>
            </a:r>
          </a:p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直接搬進來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4844" y="2103120"/>
            <a:ext cx="1572768" cy="63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235044" y="2843784"/>
            <a:ext cx="155448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4844" y="3877056"/>
            <a:ext cx="1572768" cy="3840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已有 AC／TC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7924" y="2103120"/>
            <a:ext cx="157276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需求正規化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一條需求</a:t>
            </a:r>
          </a:p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一個可驗證斷言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7924" y="2103120"/>
            <a:ext cx="1572768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18124" y="2843784"/>
            <a:ext cx="155448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17924" y="3877056"/>
            <a:ext cx="1572768" cy="3840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1004" y="2103120"/>
            <a:ext cx="157276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產生驗收條件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結果必須</a:t>
            </a:r>
          </a:p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看得到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1004" y="2103120"/>
            <a:ext cx="1572768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801204" y="2843784"/>
            <a:ext cx="155448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1004" y="3877056"/>
            <a:ext cx="1572768" cy="3840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criteria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4084" y="2103120"/>
            <a:ext cx="157276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一對多展開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套八個維度</a:t>
            </a:r>
          </a:p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展開案例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4" y="2103120"/>
            <a:ext cx="1572768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584284" y="2843784"/>
            <a:ext cx="155448" cy="146304"/>
          </a:xfrm>
          <a:prstGeom prst="rightArrow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4084" y="3877056"/>
            <a:ext cx="1572768" cy="3840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7164" y="2103120"/>
            <a:ext cx="157276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檢查與回報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跑檢查腳本</a:t>
            </a:r>
          </a:p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清乾淨錯誤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7164" y="2103120"/>
            <a:ext cx="1572768" cy="635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67164" y="3877056"/>
            <a:ext cx="1572768" cy="3840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檢查報告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507992"/>
            <a:ext cx="10874959" cy="713232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741F"/>
                </a:solidFill>
                <a:latin typeface="Microsoft JhengHei"/>
                <a:ea typeface="Microsoft JhengHei"/>
                <a:cs typeface="Microsoft JhengHei"/>
              </a:rPr>
              <a:t>全程並行　</a:t>
            </a:r>
            <a:r>
              <a:rPr sz="13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任何階段一發現文件互相矛盾、或定義不清推導不出可判定的結果，就寫進待確認清單（issues），</a:t>
            </a:r>
            <a:r>
              <a:rPr sz="135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不自己猜一個答案往下產。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507992"/>
            <a:ext cx="63500" cy="713232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385816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分批做法：階段 3 做完全部需求先落檔 → 每約 10 條需求補一批驗收條件 → 每約 5 條驗收條件展開一批案例 → 每批都跑一次檢查腳本。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Workflow ①②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階段 1–2：盤點文件、把現成的先撿起來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這一步要在動手寫任何東西之前做完，否則就會把文件裡已經有的再發明一次。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524545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① </a:t>
            </a: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盤點文件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逐份判定是 Bible／PRD／SRS／其他，登錄成來源清單。先抓標題結構建立地圖，不要把整份八百行讀進來。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7872" y="1993392"/>
            <a:ext cx="524545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② </a:t>
            </a:r>
            <a:r>
              <a:rPr sz="16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萃取現成資產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掃描這些訊號：表頭有 Given／When／Then、章節寫「測試」「驗收」「待確認」，以及處理結果代碼表。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3511296"/>
          <a:ext cx="10872216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3200400"/>
                <a:gridCol w="3374136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文件裡長這樣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萃取成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怎麼標來源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Bible 的 Given／When／Then 驗收範例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驗收條件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200" b="0">
                          <a:solidFill>
                            <a:srgbClr val="2B344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= AC-BIBLE-001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Bible 的 SIT／UAT 測試矩陣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測試案例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200" b="0">
                          <a:solidFill>
                            <a:srgbClr val="2B344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= SIT-BIBLE-010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PRD 的測試案例草案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測試案例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200" b="0">
                          <a:solidFill>
                            <a:srgbClr val="2B344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= TC-005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PRD 的待確認項目、未打勾的 DoR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待確認事項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200" b="0">
                          <a:solidFill>
                            <a:srgbClr val="2B344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= TBD-003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SRS 的處理結果代碼表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錯誤碼字典，供預期結果引用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不另建需求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687568"/>
            <a:ext cx="10874959" cy="64008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重要　</a:t>
            </a: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萃取的語意不得改寫，只能補缺的欄位。補不出來就記成待確認，不要自己編。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687568"/>
            <a:ext cx="50800" cy="64008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Workflow ③④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階段 3–4：需求正規化、寫出看得到的驗收條件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這兩階段決定後面展開得出來或展不出來，寫鬆了後面全部跟著鬆。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5245456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③ </a:t>
            </a: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需求正規化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一條需求＝一個可驗證的斷言。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一句話塞多個規則 → 拆成多條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同一需求出現在多份文件 → 併成一條，來源收多筆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「應正確處理」「效能應合理」→ 不成為需求，記成待確認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93392"/>
            <a:ext cx="5245456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7872" y="1993392"/>
            <a:ext cx="5245456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④ </a:t>
            </a: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結果必須是看得到的，而且可判定真假。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畫面顯示什麼／API 回什麼／哪張表哪個欄位變成什麼，三者至少一項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禁止「應正確顯示」「符合預期」這種寫法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被待確認事項擋住的，標記起來而且不展開案例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7872" y="1993392"/>
            <a:ext cx="5245456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4535424"/>
            <a:ext cx="10874959" cy="1170432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為什麼被擋住的不展開案例？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與其產出一條看起來能測、實際上建立在猜測之上的案例，不如讓缺口留在那裡被看見。檢查腳本會把它算成「已知缺口」而不是漏測警告——這樣上線前就會知道：這一塊不是沒測，是規格還沒講清楚所以測不了，需要誰去確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535424"/>
            <a:ext cx="63500" cy="1170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Workflow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階段 5：一條驗收條件，展開成多條測試案例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逐一檢查這八個維度，適用的每個維度至少產一條。這是整支 Skill 最核心的一步。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93392"/>
          <a:ext cx="10872215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4069080"/>
                <a:gridCol w="4928616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維度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什麼時候適用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要產出幾條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4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happy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正向路徑 1 條，必備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boundary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欄位有值域、長度或格式限制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每個等價類與邊界各 1 條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B039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negative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有驗證規則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每個獨立錯誤碼各 1 條</a:t>
                      </a: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，不可多個錯誤碼塞同一條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B039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auth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有角色限制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每個授權角色 1 條正向 ＋ 至少 1 條未授權負向，</a:t>
                      </a:r>
                      <a:r>
                        <a:rPr sz="1200" b="1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負向要驗 API 層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有多種合法前置狀態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各合法前置 1 條 ＋ 至少 1 條非法前置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txn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有資料寫入且規格提到交易或回復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 1 條 ＋ 中途失敗回復 1 條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B0741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concurrent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規格提到序號、唯一性或併發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至少 1 條併發案例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E7D9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integration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 API、批次、第三方或檔案交換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上游與下游各 1 條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321808"/>
            <a:ext cx="10874959" cy="786384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741F"/>
                </a:solidFill>
                <a:latin typeface="Microsoft JhengHei"/>
                <a:ea typeface="Microsoft JhengHei"/>
                <a:cs typeface="Microsoft JhengHei"/>
              </a:rPr>
              <a:t>也要有節制　</a:t>
            </a: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沒有值域限制就不要硬湊邊界、沒有併發語意就不要硬湊併發。每條案例都要能說出它在驗哪一個具體風險，案例數不是指標——寧可 15 條每次都跑，不要 200 條沒人看。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321808"/>
            <a:ext cx="50800" cy="786384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Workflow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展開長什麼樣：一條變六條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這條驗收條件牽涉 4 個必填欄位、2 種可執行角色、一個共用錯誤碼。只寫一條就是漏測。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70632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E7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基本分類欄位必填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AO Assistant 或 AO 在新起案件頁，四個分類欄位至少一個未填 → 確認建案 → 前端標示未填欄位，後端也拒絕。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1808" y="2313432"/>
            <a:ext cx="621151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4F"/>
                </a:solidFill>
                <a:latin typeface="Courier New"/>
                <a:ea typeface="Courier New"/>
                <a:cs typeface="Courier New"/>
              </a:rPr>
              <a:t>happy</a:t>
            </a: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四個欄位都填齊可成功建案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5321808" y="2313432"/>
            <a:ext cx="50800" cy="5120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4315968" y="2569464"/>
            <a:ext cx="1005840" cy="1344168"/>
          </a:xfrm>
          <a:prstGeom prst="line">
            <a:avLst/>
          </a:prstGeom>
          <a:ln w="15875">
            <a:solidFill>
              <a:srgbClr val="C3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21808" y="2935224"/>
            <a:ext cx="621151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3936"/>
                </a:solidFill>
                <a:latin typeface="Courier New"/>
                <a:ea typeface="Courier New"/>
                <a:cs typeface="Courier New"/>
              </a:rPr>
              <a:t>negative</a:t>
            </a: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缺客戶別 → 回 E102 並指出欄位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1808" y="2935224"/>
            <a:ext cx="50800" cy="512064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4315968" y="3191256"/>
            <a:ext cx="1005840" cy="722376"/>
          </a:xfrm>
          <a:prstGeom prst="line">
            <a:avLst/>
          </a:prstGeom>
          <a:ln w="15875">
            <a:solidFill>
              <a:srgbClr val="C3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21808" y="3557016"/>
            <a:ext cx="621151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3936"/>
                </a:solidFill>
                <a:latin typeface="Courier New"/>
                <a:ea typeface="Courier New"/>
                <a:cs typeface="Courier New"/>
              </a:rPr>
              <a:t>negative</a:t>
            </a: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缺擔保別 → 回 E102 並指出欄位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1808" y="3557016"/>
            <a:ext cx="50800" cy="512064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4315968" y="3813048"/>
            <a:ext cx="1005840" cy="100584"/>
          </a:xfrm>
          <a:prstGeom prst="line">
            <a:avLst/>
          </a:prstGeom>
          <a:ln w="15875">
            <a:solidFill>
              <a:srgbClr val="C3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21808" y="4178808"/>
            <a:ext cx="621151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3936"/>
                </a:solidFill>
                <a:latin typeface="Courier New"/>
                <a:ea typeface="Courier New"/>
                <a:cs typeface="Courier New"/>
              </a:rPr>
              <a:t>negative</a:t>
            </a: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缺產品代碼 → 回 E102 並指出欄位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4178808"/>
            <a:ext cx="50800" cy="512064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315968" y="3913632"/>
            <a:ext cx="1005840" cy="521208"/>
          </a:xfrm>
          <a:prstGeom prst="line">
            <a:avLst/>
          </a:prstGeom>
          <a:ln w="15875">
            <a:solidFill>
              <a:srgbClr val="C3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21808" y="4800600"/>
            <a:ext cx="621151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3936"/>
                </a:solidFill>
                <a:latin typeface="Courier New"/>
                <a:ea typeface="Courier New"/>
                <a:cs typeface="Courier New"/>
              </a:rPr>
              <a:t>negative</a:t>
            </a: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缺案件類型 → 回 E102 並指出欄位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21808" y="4800600"/>
            <a:ext cx="50800" cy="512064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315968" y="3913632"/>
            <a:ext cx="1005840" cy="1143000"/>
          </a:xfrm>
          <a:prstGeom prst="line">
            <a:avLst/>
          </a:prstGeom>
          <a:ln w="15875">
            <a:solidFill>
              <a:srgbClr val="C3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21808" y="5422392"/>
            <a:ext cx="621151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3936"/>
                </a:solidFill>
                <a:latin typeface="Courier New"/>
                <a:ea typeface="Courier New"/>
                <a:cs typeface="Courier New"/>
              </a:rPr>
              <a:t>auth</a:t>
            </a: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未授權角色直呼 API → 回 E998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8" y="5422392"/>
            <a:ext cx="50800" cy="512064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15968" y="3913632"/>
            <a:ext cx="1005840" cy="1764792"/>
          </a:xfrm>
          <a:prstGeom prst="line">
            <a:avLst/>
          </a:prstGeom>
          <a:ln w="15875">
            <a:solidFill>
              <a:srgbClr val="C3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5330952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前一版手工做的時候，這裡只有一條。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測試人員照著跑，永遠只會驗到其中一個欄位。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觀念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每條案例都要評風險，而且風險要有後果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只看兩個維度、每個維度只有高低，避免評級時陷入無意義的爭論。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21396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出錯機率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2414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2414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影響程度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80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743200"/>
            <a:ext cx="22128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0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高風險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743200"/>
            <a:ext cx="22128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0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741F"/>
                </a:solidFill>
                <a:latin typeface="Microsoft JhengHei"/>
                <a:ea typeface="Microsoft JhengHei"/>
                <a:cs typeface="Microsoft JhengHei"/>
              </a:rPr>
              <a:t>中風險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7673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5688" y="3529584"/>
            <a:ext cx="22128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0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741F"/>
                </a:solidFill>
                <a:latin typeface="Microsoft JhengHei"/>
                <a:ea typeface="Microsoft JhengHei"/>
                <a:cs typeface="Microsoft JhengHei"/>
              </a:rPr>
              <a:t>中風險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529584"/>
            <a:ext cx="22128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低風險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480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口訣：兩高才是高，兩低才是低，一高一低都算中。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059168" y="2139696"/>
          <a:ext cx="4474159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/>
                <a:gridCol w="2023567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測試投入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上線前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B039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寫成可重複執行的腳本，正常、異常、邊界全測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必測，未通過不上線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B0741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主要流程測一次，異常挑重點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必測，有小問題由 PM 判斷</a:t>
                      </a:r>
                    </a:p>
                  </a:txBody>
                  <a:tcPr marL="82296" marR="82296" marT="27432" marB="27432" anchor="ctr"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2E7D4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順手驗證或依賴回報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B34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時間不足可略過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059168" y="4425696"/>
            <a:ext cx="4474159" cy="13716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風險等級若不影響任何行為，就只是裝飾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分級的唯一目的是決定資源怎麼投。高風險通常只佔全部案例的兩到三成，但值得花七成的測試時間。上線前檢查表不必另外寫，把案例依風險排序篩出來就是了。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使用前必讀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三條硬性規則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這三條凌駕一切效率考量。違反其中任何一條，產出就是失敗的，不是「先這樣之後再補」。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39112"/>
            <a:ext cx="3442106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衝突不得自行裁決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文件之間任何矛盾都要寫進待確認清單。可以依仲裁規則挑一方讓流程往下走，但絕不可默默採用後照常產案例。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為什麼：默默選一方，等於把一個未經確認的假設，變成一整批看起來很有把握的測試案例。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3442106" cy="635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4794" y="2039112"/>
            <a:ext cx="3442106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現成的不得重新發明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文件裡已有的驗收條件、測試案例、待確認項一律搬進來並記下原始編號，只能補欄位、不得改寫語意。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為什麼：原文是業務簽過的口徑。改寫等於偷偷換掉驗收標準，而且沒人會發現。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4794" y="2039112"/>
            <a:ext cx="3442106" cy="635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1221" y="2039112"/>
            <a:ext cx="3442106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禁用樣板句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步驟與預期結果要具體到陌生人能照著執行並自己判斷通過與否。檢查腳本會逐條比對禁用清單，命中即錯。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為什麼：樣板句讓案例「看起來有寫」，實際上測試人員還是得回去翻規格重寫一次。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1221" y="2039112"/>
            <a:ext cx="3442106" cy="635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Workflow 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階段 6：檢查腳本會擋你什麼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收尾一定要跑。錯誤全部清乾淨才算完成，警告要逐條看過再決定接受或修正。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9339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A5F"/>
                </a:solidFill>
                <a:latin typeface="Courier New"/>
                <a:ea typeface="Courier New"/>
                <a:cs typeface="Courier New"/>
              </a:rPr>
              <a:t>python3 .codex/skills/spec-to-tests/scripts/check.py testcases.json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50592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結構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必要集合、必填欄位、代碼值合法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50592"/>
            <a:ext cx="50800" cy="402336"/>
          </a:xfrm>
          <a:prstGeom prst="rect">
            <a:avLst/>
          </a:prstGeom>
          <a:solidFill>
            <a:srgbClr val="C3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0440" y="2450592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編號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格式一致、不重複、不跳號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40" y="2450592"/>
            <a:ext cx="50800" cy="402336"/>
          </a:xfrm>
          <a:prstGeom prst="rect">
            <a:avLst/>
          </a:prstGeom>
          <a:solidFill>
            <a:srgbClr val="C3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926080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參照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驗收條件指到的需求、案例指到的驗收條件都要存在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26080"/>
            <a:ext cx="50800" cy="402336"/>
          </a:xfrm>
          <a:prstGeom prst="rect">
            <a:avLst/>
          </a:prstGeom>
          <a:solidFill>
            <a:srgbClr val="C3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0440" y="2926080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覆蓋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沒有驗收條件的需求、沒有案例的驗收條件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0440" y="2926080"/>
            <a:ext cx="50800" cy="402336"/>
          </a:xfrm>
          <a:prstGeom prst="rect">
            <a:avLst/>
          </a:prstGeom>
          <a:solidFill>
            <a:srgbClr val="C3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401568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等級與影響／機率的推導一致，理由不能空白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01568"/>
            <a:ext cx="50800" cy="402336"/>
          </a:xfrm>
          <a:prstGeom prst="rect">
            <a:avLst/>
          </a:prstGeom>
          <a:solidFill>
            <a:srgbClr val="C3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0440" y="3401568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樣板句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步驟、預期結果、風險理由命中禁用清單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40" y="3401568"/>
            <a:ext cx="50800" cy="402336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77056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一對多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該展開卻只有一條案例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77056"/>
            <a:ext cx="50800" cy="402336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0440" y="3877056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可測性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預期結果為空、前置只寫空話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0440" y="3877056"/>
            <a:ext cx="50800" cy="402336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352544"/>
            <a:ext cx="5272888" cy="402336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編號混淆</a:t>
            </a: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　把本檔編號寫進來源欄位，或反過來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52544"/>
            <a:ext cx="50800" cy="402336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010912"/>
            <a:ext cx="10874959" cy="1005840"/>
          </a:xfrm>
          <a:prstGeom prst="roundRect">
            <a:avLst>
              <a:gd name="adj" fmla="val 12000"/>
            </a:avLst>
          </a:prstGeom>
          <a:solidFill>
            <a:srgbClr val="F3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t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報告會直接告訴你展開得夠不夠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統計會列出「測試案例／驗收條件」的比例。如果跑完接近 1.00，代表根本沒有展開，腳本會直接發出警告要你回頭重做。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010912"/>
            <a:ext cx="63500" cy="10058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產出物：一份 testcases.json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五個集合互相參照，來源欄位有值就代表那一筆是從文件萃取的，不是推導出來的。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208720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544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Courier New"/>
                <a:ea typeface="Courier New"/>
                <a:cs typeface="Courier New"/>
              </a:rPr>
              <a:t>docs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來源文件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93392"/>
            <a:ext cx="2087209" cy="63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5305" y="1993392"/>
            <a:ext cx="208720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544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9A"/>
                </a:solidFill>
                <a:latin typeface="Courier New"/>
                <a:ea typeface="Courier New"/>
                <a:cs typeface="Courier New"/>
              </a:rPr>
              <a:t>requirements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5305" y="1993392"/>
            <a:ext cx="2087209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52243" y="1993392"/>
            <a:ext cx="208720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544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9A"/>
                </a:solidFill>
                <a:latin typeface="Courier New"/>
                <a:ea typeface="Courier New"/>
                <a:cs typeface="Courier New"/>
              </a:rPr>
              <a:t>criteria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2243" y="1993392"/>
            <a:ext cx="2087209" cy="635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49180" y="1993392"/>
            <a:ext cx="208720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544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4F"/>
                </a:solidFill>
                <a:latin typeface="Courier New"/>
                <a:ea typeface="Courier New"/>
                <a:cs typeface="Courier New"/>
              </a:rPr>
              <a:t>tests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測試案例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49180" y="1993392"/>
            <a:ext cx="2087209" cy="635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46118" y="1993392"/>
            <a:ext cx="208720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544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741F"/>
                </a:solidFill>
                <a:latin typeface="Courier New"/>
                <a:ea typeface="Courier New"/>
                <a:cs typeface="Courier New"/>
              </a:rPr>
              <a:t>issues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待確認事項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6118" y="1993392"/>
            <a:ext cx="2087209" cy="63500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999232"/>
            <a:ext cx="5245456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✗　以前的寫法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建立前置狀態與測試資料：至少一個欄位未填。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執行觸發動作：使用者確認建案。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擷取 UI 顯示、API 與相關資料異動。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將實際結果與預期逐項比對。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1">
                <a:solidFill>
                  <a:srgbClr val="B03936"/>
                </a:solidFill>
                <a:latin typeface="Microsoft JhengHei"/>
                <a:ea typeface="Microsoft JhengHei"/>
                <a:cs typeface="Microsoft JhengHei"/>
              </a:rPr>
              <a:t>測試人員還是得回去翻規格，才知道要填什麼、看哪裡。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9232"/>
            <a:ext cx="5245456" cy="635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7872" y="2999232"/>
            <a:ext cx="5245456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377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✓　現在的寫法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以 CR（003）角色登入取得有效 session。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不經畫面直接呼叫建案 API，帶入完整合法參數。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記錄回傳的 code 與 message。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以該次的年月與案件類型查案件主檔與流水號表。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預期：回 E998、主檔無新增、流水號沒被墊高；前端隱藏按鈕不算通過。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7872" y="2999232"/>
            <a:ext cx="5245456" cy="635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5669280"/>
            <a:ext cx="10874959" cy="54864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陌生人測試　</a:t>
            </a: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判斷標準很簡單：不懂這份規格的人拿到這一條，能不能照著做完、並自己判斷通過與否？不能就重寫。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669280"/>
            <a:ext cx="508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你實際要做的事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Skill 已裝在專案的 .codex/skills/ 底下，Codex 會自動載入，不必額外設定。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39696"/>
            <a:ext cx="438912" cy="43891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103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把文件交給它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103120"/>
            <a:ext cx="7445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告訴它要分析哪幾份文件。沒指定的話它會掃工作目錄找規格文件，列出來請你確認範圍。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98064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438912" cy="43891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8895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確認輸出去向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889504"/>
            <a:ext cx="7445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輸出寫到這些文件的共同根目錄，檔名 testcases.json。如果檔案已存在，它會先問你是要重跑比對還是覆蓋重來，不會直接蓋掉。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84448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712464"/>
            <a:ext cx="438912" cy="43891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36758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分批產出，不要一次到底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3675888"/>
            <a:ext cx="7445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需求全集先落檔 → 分批補驗收條件 → 分批展開案例。每批之間你都可以介入修正，比全部做完再改省力得多。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70832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498848"/>
            <a:ext cx="438912" cy="43891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4462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收尾看報告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4462272"/>
            <a:ext cx="7445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檢查腳本零錯誤才算完成。回報會給你數量、展開比例、萃取了幾筆、以及待確認清單要找誰確認。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57216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285232"/>
            <a:ext cx="438912" cy="43891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52486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把待確認清單發出去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5248656"/>
            <a:ext cx="7445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這份清單是最有價值的副產品：它是規格在進入開發之前，就被逐條問出來的問題，每一則都標好了該找 PM、SA、RD 還是維運。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進階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規格改版之後：帶著上一版重跑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編號一旦配發就永不重用，所以改版後你只需要看變動的那幾筆，不必整份重讀。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261587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4F"/>
                </a:solidFill>
                <a:latin typeface="Courier New"/>
                <a:ea typeface="Courier New"/>
                <a:cs typeface="Courier New"/>
              </a:rPr>
              <a:t>ADDED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新增</a:t>
            </a: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這一版新出現的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93392"/>
            <a:ext cx="2615870" cy="635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11398" y="1993392"/>
            <a:ext cx="261587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741F"/>
                </a:solidFill>
                <a:latin typeface="Courier New"/>
                <a:ea typeface="Courier New"/>
                <a:cs typeface="Courier New"/>
              </a:rPr>
              <a:t>MODIFIED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修改</a:t>
            </a: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內容有變，會列出變了哪些欄位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1398" y="1993392"/>
            <a:ext cx="2615870" cy="63500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4428" y="1993392"/>
            <a:ext cx="261587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3936"/>
                </a:solidFill>
                <a:latin typeface="Courier New"/>
                <a:ea typeface="Courier New"/>
                <a:cs typeface="Courier New"/>
              </a:rPr>
              <a:t>REMOVED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移除</a:t>
            </a: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來源文件已刪除，紀錄保留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4428" y="1993392"/>
            <a:ext cx="2615870" cy="63500"/>
          </a:xfrm>
          <a:prstGeom prst="rect">
            <a:avLst/>
          </a:prstGeom>
          <a:solidFill>
            <a:srgbClr val="B0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17457" y="1993392"/>
            <a:ext cx="261587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46F7D"/>
                </a:solidFill>
                <a:latin typeface="Courier New"/>
                <a:ea typeface="Courier New"/>
                <a:cs typeface="Courier New"/>
              </a:rPr>
              <a:t>UNCHANGED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未變更</a:t>
            </a: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與上一版相同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7457" y="1993392"/>
            <a:ext cx="2615870" cy="63500"/>
          </a:xfrm>
          <a:prstGeom prst="rect">
            <a:avLst/>
          </a:prstGeom>
          <a:solidFill>
            <a:srgbClr val="646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6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t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拆分與合併不另設狀態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一條規則拆成兩條、或兩條併成一條，都用「修改」加上「原本是哪幾條」來表達。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14800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t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對不上就不硬猜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整章重寫、看不出新舊對應關係時，會記成待裁決的待確認事項，而不是隨便配對。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9494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t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章節改名不算新項目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文件改版號、章節改名、路徑搬移，來源紀錄照樣沿用原編號，只更新路徑。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733288"/>
            <a:ext cx="10874959" cy="566928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還有一件事　</a:t>
            </a: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每次 Production 出包，回頭問「哪一條案例應該要攔到它」，然後補上去。這是整套流程裡唯一能讓測試資產隨時間變強的機制。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733288"/>
            <a:ext cx="50800" cy="5669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9A"/>
                </a:solidFill>
                <a:latin typeface="Microsoft JhengHei"/>
                <a:ea typeface="Microsoft JhengHei"/>
                <a:cs typeface="Microsoft JhengHei"/>
              </a:rPr>
              <a:t>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實跑結果與三個提醒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05840" cy="38100"/>
          </a:xfrm>
          <a:prstGeom prst="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拿同一個模組的 Bible 加四份規格書實跑，檢查腳本零錯誤零警告。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1736293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101" y="1993392"/>
            <a:ext cx="1736293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62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3834" y="1993392"/>
            <a:ext cx="1736293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96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測試案例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1568" y="1993392"/>
            <a:ext cx="1736293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待確認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9301" y="1993392"/>
            <a:ext cx="1736293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從文件萃取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97034" y="1993392"/>
            <a:ext cx="1736293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已知缺口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27248"/>
            <a:ext cx="10874959" cy="658368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測試案例／驗收條件 = 1.55</a:t>
            </a:r>
            <a:r>
              <a:rPr sz="1300" b="0">
                <a:solidFill>
                  <a:srgbClr val="2B3440"/>
                </a:solidFill>
                <a:latin typeface="Microsoft JhengHei"/>
                <a:ea typeface="Microsoft JhengHei"/>
                <a:cs typeface="Microsoft JhengHei"/>
              </a:rPr>
              <a:t>　（前一版手工做的時候是 1.00）　｜　八個展開維度全部用到　｜　待確認事項從 6 則增為 15 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05072"/>
            <a:ext cx="344210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別把案例數當 KPI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數量灌水沒人維護，寧可 15 條每次都跑，不要 200 條沒人看。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005072"/>
            <a:ext cx="63500" cy="1371600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4794" y="4005072"/>
            <a:ext cx="344210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待確認清單要真的送出去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沒人回覆的話，那幾個缺口下一版還是缺口，測試永遠補不齊。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4794" y="4005072"/>
            <a:ext cx="63500" cy="1371600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1221" y="4005072"/>
            <a:ext cx="344210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別一開始就想全面自動化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46F7D"/>
                </a:solidFill>
                <a:latin typeface="Microsoft JhengHei"/>
                <a:ea typeface="Microsoft JhengHei"/>
                <a:cs typeface="Microsoft JhengHei"/>
              </a:rPr>
              <a:t>先讓高風險的手動流程穩定且可重複，再挑最常跑的自動化。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221" y="4005072"/>
            <a:ext cx="63500" cy="1371600"/>
          </a:xfrm>
          <a:prstGeom prst="rect">
            <a:avLst/>
          </a:prstGeom>
          <a:solidFill>
            <a:srgbClr val="B0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63270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  <a:cs typeface="Microsoft JhengHei"/>
              </a:rPr>
              <a:t>測試不是最後一站，而是這條鏈的共同語言。鏈上任何一環退回模糊描述，測試就會退化成上線前的加班。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spec-to-tests 使用說明 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5B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