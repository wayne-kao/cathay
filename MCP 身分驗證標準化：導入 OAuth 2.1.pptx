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重點一句話：OAuth 讓 AI 工具拿「通行證」，而不是拿「密碼」。三個理由：一、這是 MCP 官方規範指定的身分驗證標準，Claude、ChatGPT、Gemini 都照這套標準來連線，自訂的驗證方式它們接不上。二、只要建置一次，所有符合標準的 AI 工具都能直接使用，不必逐家客製；未來 Web、APP、API 等內部系統之間，也能共用這台 OAuth Server 驗證身分，不再各自處理帳號密碼。三、使用者的統編、帳號、密碼只在 OAuth Server 的登入頁輸入，AI 工具和 MCP Server 都看不到密碼，只拿到幾分鐘就會到期、而且可以隨時收回的通行證。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A：Apigee X Platform 部署在公有雲，是對外唯一的入口，類似大樓的大門；API 服務在資訊雲；OAuth Server、GMB 資料庫與 API Bank 資料庫都在地端（On-Premises），不上雲。流程：① 員工先在 AI 工具裡新增 MCP 連線，只需設定一次。② 登入請求經過 Apigee 轉送到地端的 OAuth Server，員工在登入頁輸入統編、帳號、密碼，OAuth Server 到 GMB 資料庫比對，並記錄 Token 資訊。③ 確認身分後，OAuth Server 經由 Apigee 發通行證給 AI 工具。④ 之後員工請 AI 查資料時，AI 工具帶著通行證找 Apigee。⑤ Apigee 先驗證通行證，通過後才呼叫資訊雲的 API Bank API，再由 API 服務讀取地端的 API Bank 資料庫。優點：帳號密碼與 Token 相關資料完全留在地端，OAuth Server 與 GMB 資料庫同在一處，登入比對不需跨網路；公有雲只負責對外入口。需要注意：登入流程要經 Apigee 往返地端，需規劃公有雲到地端的安全連線與穩定性。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B：Apigee X Platform 與 OAuth Server 都部署在公有雲，對外一律經過 Apigee；API 服務在資訊雲，GMB 資料庫與 API Bank 資料庫都在地端（On-Premises）。流程：① 員工先在 AI 工具裡新增 MCP 連線，只需設定一次。② 登入請求經過 Apigee 轉送到公有雲的 OAuth Server，員工在登入頁輸入統編、帳號、密碼，OAuth Server 再連回地端的 GMB 資料庫比對，並記錄 Token 資訊。③ 確認身分後，OAuth Server 經由 Apigee 發通行證給 AI 工具。④ 之後員工請 AI 查資料時，AI 工具帶著通行證找 Apigee。⑤ Apigee 先驗證通行證，通過後才呼叫資訊雲的 API Bank API，再由 API 服務讀取地端的 API Bank 資料庫。優點：OAuth Server 與 Apigee 同在公有雲，登入與發證反應快，擴充彈性高。需要注意：OAuth Server 每次登入都要跨網路連回地端的 GMB 資料庫比對帳密，這條連線的安全與穩定性需特別規劃；密碼比對的運算發生在公有雲。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OAuth 最經典的 Authorization Code Flow，加上 PKCE，也是本階段唯一實作的授權流程。① Client 先產生隨機的 code_verifier，並算出它的雜湊 code_challenge。②③ 把使用者的瀏覽器導向 OAuth Server 的 /authorize，帶上 code_challenge、防偽用的 state，以及目標 MCP Server 網址 resource。④ 重點：統編、帳號、密碼只在 OAuth Server 的登入頁輸入，Client 與 MCP Server 都看不到。⑤⑥ OAuth Server 驗證成功後，以一次性的授權碼導回 Client 的 redirect_uri，並附上 iss 讓 Client 確認是哪個 OAuth Server 發的。⑦ Client 用授權碼加原始的 code_verifier 換 Token；OAuth Server 比對雜湊，確保換 Token 的跟發起登入的是同一個 Client，授權碼被攔截也無法使用。⑧ OAuth Server 回傳短效的 JWT Access Token 與 Refresh Token。⑨⑩ Client 帶 Token 呼叫 MCP Server，MCP Server 以 OAuth Server 公布的 JWKS 公鑰驗證簽章、受眾 aud 與到期時間，不需每次回呼 OAuth Server。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本階段全部自行實作，不使用第三方框架或服務，方便日後接手維護。本階段六項：登入頁；標準授權流程，採 Authorization Code Flow 加 PKCE，並在回應帶 iss 參數；短效的 JWT Access Token；Refresh Token 自動續期，每次換新都輪替；Client 註冊；Metadata 與 JWKS 端點，也就是 OAuth Server 的 Authorization Server Metadata（RFC 8414）與驗證用公鑰。Client 註冊依 MCP 規範 2026-07-28 版：Claude 與 ChatGPT 使用 Client ID Metadata Documents（CIMD），用自己的網址當身分，不需事先登記；Gemini 目前保守起見採預先註冊，由管理員發給 Client ID。動態註冊（DCR）在新規範已標為棄用，不實作。Token 撤銷放在後續階段：包含 /revoke 端點（自家 Web、APP 登出時呼叫），以及帳號停用或異常時由 OAuth Server 作廢該使用者所有 Refresh Token。本階段先以短效的 Access Token 控制風險。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4572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360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264890"/>
            <a:ext cx="10566400" cy="47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4572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360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264890"/>
            <a:ext cx="10566400" cy="47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4572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為什麼需要 OAuth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0362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AI 工具「拿通行證」，而不是「拿密碼」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473150"/>
            <a:ext cx="3386634" cy="477525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1777950"/>
            <a:ext cx="28603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1A9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17600" y="2362150"/>
            <a:ext cx="286034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業界共同標準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7600" y="2824411"/>
            <a:ext cx="2860345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官方規範指定用 OAuth 2.1 驗證身分。不照標準做，主流 AI 工具就接不上。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473150"/>
            <a:ext cx="3386683" cy="477525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4707434" y="1777950"/>
            <a:ext cx="286039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1A9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07434" y="2362150"/>
            <a:ext cx="28603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一次建置，內外通用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7434" y="2824411"/>
            <a:ext cx="2860396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Claude、ChatGPT、Gemini 都照同一套標準連線，不需要逐家開發。未來內部系統之間，也能用同一套 OAuth 驗證身分。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17" y="1473150"/>
            <a:ext cx="3386683" cy="4775250"/>
          </a:xfrm>
          <a:prstGeom prst="rect">
            <a:avLst/>
          </a:prstGeom>
          <a:solidFill>
            <a:srgbClr val="E6FED2"/>
          </a:solidFill>
          <a:ln/>
        </p:spPr>
      </p:sp>
      <p:sp>
        <p:nvSpPr>
          <p:cNvPr id="13" name="Text 11"/>
          <p:cNvSpPr/>
          <p:nvPr/>
        </p:nvSpPr>
        <p:spPr>
          <a:xfrm>
            <a:off x="8297317" y="1777950"/>
            <a:ext cx="286039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1A9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97317" y="2362150"/>
            <a:ext cx="286039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密碼不外流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97317" y="2824411"/>
            <a:ext cx="286039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密碼只在 OAuth Server 輸入。AI 工具只拿到有時效、可隨時收回的通行證。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0" y="64414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14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5720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4"/>
              </a:lnSpc>
              <a:buNone/>
            </a:pPr>
            <a:r>
              <a:rPr lang="en-US" sz="3476" b="1" i="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A：OAuth Server 不上雲</a:t>
            </a:r>
            <a:endParaRPr lang="en-US" sz="3476" dirty="0"/>
          </a:p>
        </p:txBody>
      </p:sp>
      <p:sp>
        <p:nvSpPr>
          <p:cNvPr id="4" name="Text 2"/>
          <p:cNvSpPr/>
          <p:nvPr/>
        </p:nvSpPr>
        <p:spPr>
          <a:xfrm>
            <a:off x="812800" y="988020"/>
            <a:ext cx="10883392" cy="2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對外一律經過公有雲的 Apigee X；API 服務在資訊雲，OAuth Server 與資料庫都在地端</a:t>
            </a:r>
            <a:endParaRPr lang="en-US" sz="1339" dirty="0"/>
          </a:p>
        </p:txBody>
      </p:sp>
      <p:sp>
        <p:nvSpPr>
          <p:cNvPr id="5" name="Shape 3"/>
          <p:cNvSpPr/>
          <p:nvPr/>
        </p:nvSpPr>
        <p:spPr>
          <a:xfrm>
            <a:off x="3860800" y="1397000"/>
            <a:ext cx="2413000" cy="4445000"/>
          </a:xfrm>
          <a:prstGeom prst="rect">
            <a:avLst/>
          </a:prstGeom>
          <a:solidFill>
            <a:srgbClr val="EAF7E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1397000"/>
            <a:ext cx="4978400" cy="1460500"/>
          </a:xfrm>
          <a:prstGeom prst="rect">
            <a:avLst/>
          </a:prstGeom>
          <a:solidFill>
            <a:srgbClr val="E8F0F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2921000"/>
            <a:ext cx="4978400" cy="2921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Shape 6"/>
          <p:cNvSpPr/>
          <p:nvPr/>
        </p:nvSpPr>
        <p:spPr>
          <a:xfrm>
            <a:off x="819150" y="1530350"/>
            <a:ext cx="18923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9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1643410"/>
            <a:ext cx="279400" cy="27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2820" y="1960910"/>
            <a:ext cx="7049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5792" y="2247900"/>
            <a:ext cx="177901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Claude、ChatGPT、Gemini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" y="4387850"/>
            <a:ext cx="1892300" cy="113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13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25600" y="4544070"/>
            <a:ext cx="279400" cy="279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32989" y="4861570"/>
            <a:ext cx="8645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企業用戶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79666" y="5148560"/>
            <a:ext cx="15712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AI 工具的員工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24325" y="1660525"/>
            <a:ext cx="1885950" cy="385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1A964"/>
            </a:solidFill>
            <a:prstDash val="solid"/>
          </a:ln>
        </p:spPr>
      </p:sp>
      <p:pic>
        <p:nvPicPr>
          <p:cNvPr id="17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89500" y="2752080"/>
            <a:ext cx="355600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48440" y="3183880"/>
            <a:ext cx="18376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X Platform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411216" y="3508970"/>
            <a:ext cx="131211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對外入口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 MCP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Token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轉送請求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81800" y="4476750"/>
            <a:ext cx="1778000" cy="1016000"/>
          </a:xfrm>
          <a:prstGeom prst="rect">
            <a:avLst/>
          </a:prstGeom>
          <a:solidFill>
            <a:srgbClr val="036B3F"/>
          </a:solidFill>
          <a:ln/>
        </p:spPr>
      </p:sp>
      <p:pic>
        <p:nvPicPr>
          <p:cNvPr id="21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31100" y="4575820"/>
            <a:ext cx="279400" cy="279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3095" y="4893320"/>
            <a:ext cx="13754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Server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37124" y="5180310"/>
            <a:ext cx="16673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負責登入、發通行證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201150" y="1689100"/>
            <a:ext cx="2019300" cy="100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25" name="Image 4" descr="Lin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71100" y="1781820"/>
            <a:ext cx="279400" cy="279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87176" y="2099320"/>
            <a:ext cx="84724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服務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661808" y="2386310"/>
            <a:ext cx="1097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Bank API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201150" y="3054350"/>
            <a:ext cx="2019300" cy="100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29" name="Image 5" descr="Databa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071100" y="3147070"/>
            <a:ext cx="279400" cy="2794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388614" y="3464570"/>
            <a:ext cx="1644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Bank 資料庫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9667463" y="3751560"/>
            <a:ext cx="10866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相關資料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9201150" y="4292600"/>
            <a:ext cx="2019300" cy="1225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33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71100" y="4389785"/>
            <a:ext cx="279400" cy="2794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08046" y="4707285"/>
            <a:ext cx="12055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GMB 資料庫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567863" y="4994275"/>
            <a:ext cx="12858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統編、帳號、密碼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資訊</a:t>
            </a:r>
            <a:endParaRPr lang="en-US" sz="1200" dirty="0"/>
          </a:p>
        </p:txBody>
      </p:sp>
      <p:pic>
        <p:nvPicPr>
          <p:cNvPr id="3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701800" y="2730500"/>
            <a:ext cx="127000" cy="1714500"/>
          </a:xfrm>
          <a:prstGeom prst="rect">
            <a:avLst/>
          </a:prstGeom>
        </p:spPr>
      </p:pic>
      <p:pic>
        <p:nvPicPr>
          <p:cNvPr id="37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654300" y="4921250"/>
            <a:ext cx="1524000" cy="127000"/>
          </a:xfrm>
          <a:prstGeom prst="rect">
            <a:avLst/>
          </a:prstGeom>
        </p:spPr>
      </p:pic>
      <p:pic>
        <p:nvPicPr>
          <p:cNvPr id="3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654300" y="2413000"/>
            <a:ext cx="1524000" cy="127000"/>
          </a:xfrm>
          <a:prstGeom prst="rect">
            <a:avLst/>
          </a:prstGeom>
        </p:spPr>
      </p:pic>
      <p:pic>
        <p:nvPicPr>
          <p:cNvPr id="39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654300" y="1905000"/>
            <a:ext cx="1524000" cy="127000"/>
          </a:xfrm>
          <a:prstGeom prst="rect">
            <a:avLst/>
          </a:prstGeom>
        </p:spPr>
      </p:pic>
      <p:pic>
        <p:nvPicPr>
          <p:cNvPr id="40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956300" y="4921250"/>
            <a:ext cx="889000" cy="127000"/>
          </a:xfrm>
          <a:prstGeom prst="rect">
            <a:avLst/>
          </a:prstGeom>
        </p:spPr>
      </p:pic>
      <p:pic>
        <p:nvPicPr>
          <p:cNvPr id="41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96300" y="4921250"/>
            <a:ext cx="762000" cy="127000"/>
          </a:xfrm>
          <a:prstGeom prst="rect">
            <a:avLst/>
          </a:prstGeom>
        </p:spPr>
      </p:pic>
      <p:pic>
        <p:nvPicPr>
          <p:cNvPr id="42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956300" y="2127250"/>
            <a:ext cx="3302000" cy="127000"/>
          </a:xfrm>
          <a:prstGeom prst="rect">
            <a:avLst/>
          </a:prstGeom>
        </p:spPr>
      </p:pic>
      <p:pic>
        <p:nvPicPr>
          <p:cNvPr id="43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147300" y="2635250"/>
            <a:ext cx="127000" cy="47625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1866900" y="3238500"/>
            <a:ext cx="876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設定 MCP</a:t>
            </a:r>
            <a:endParaRPr lang="en-US" sz="1200" dirty="0"/>
          </a:p>
        </p:txBody>
      </p:sp>
      <p:sp>
        <p:nvSpPr>
          <p:cNvPr id="45" name="Text 28"/>
          <p:cNvSpPr/>
          <p:nvPr/>
        </p:nvSpPr>
        <p:spPr>
          <a:xfrm>
            <a:off x="2794000" y="46863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登入驗證</a:t>
            </a:r>
            <a:endParaRPr lang="en-US" sz="1200" dirty="0"/>
          </a:p>
        </p:txBody>
      </p:sp>
      <p:sp>
        <p:nvSpPr>
          <p:cNvPr id="46" name="Text 29"/>
          <p:cNvSpPr/>
          <p:nvPr/>
        </p:nvSpPr>
        <p:spPr>
          <a:xfrm>
            <a:off x="2794000" y="2552700"/>
            <a:ext cx="1320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發放 Token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 AI 工具</a:t>
            </a:r>
            <a:endParaRPr lang="en-US" sz="1200" dirty="0"/>
          </a:p>
        </p:txBody>
      </p:sp>
      <p:sp>
        <p:nvSpPr>
          <p:cNvPr id="47" name="Text 30"/>
          <p:cNvSpPr/>
          <p:nvPr/>
        </p:nvSpPr>
        <p:spPr>
          <a:xfrm>
            <a:off x="2794000" y="1397000"/>
            <a:ext cx="1320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帶 Token 呼叫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</a:t>
            </a:r>
            <a:endParaRPr lang="en-US" sz="1200" dirty="0"/>
          </a:p>
        </p:txBody>
      </p:sp>
      <p:sp>
        <p:nvSpPr>
          <p:cNvPr id="48" name="Text 31"/>
          <p:cNvSpPr/>
          <p:nvPr/>
        </p:nvSpPr>
        <p:spPr>
          <a:xfrm>
            <a:off x="6070600" y="4521200"/>
            <a:ext cx="749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轉送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請求</a:t>
            </a:r>
            <a:endParaRPr lang="en-US" sz="1200" dirty="0"/>
          </a:p>
        </p:txBody>
      </p:sp>
      <p:sp>
        <p:nvSpPr>
          <p:cNvPr id="49" name="Text 32"/>
          <p:cNvSpPr/>
          <p:nvPr/>
        </p:nvSpPr>
        <p:spPr>
          <a:xfrm>
            <a:off x="8585200" y="5054600"/>
            <a:ext cx="660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比對帳密</a:t>
            </a:r>
            <a:endParaRPr lang="en-US" sz="1200" dirty="0"/>
          </a:p>
        </p:txBody>
      </p:sp>
      <p:sp>
        <p:nvSpPr>
          <p:cNvPr id="50" name="Text 33"/>
          <p:cNvSpPr/>
          <p:nvPr/>
        </p:nvSpPr>
        <p:spPr>
          <a:xfrm>
            <a:off x="10312400" y="2768600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讀取資料</a:t>
            </a:r>
            <a:endParaRPr lang="en-US" sz="1200" dirty="0"/>
          </a:p>
        </p:txBody>
      </p:sp>
      <p:sp>
        <p:nvSpPr>
          <p:cNvPr id="51" name="Text 34"/>
          <p:cNvSpPr/>
          <p:nvPr/>
        </p:nvSpPr>
        <p:spPr>
          <a:xfrm>
            <a:off x="6908800" y="187960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驗證 Token 後呼叫 API</a:t>
            </a:r>
            <a:endParaRPr lang="en-US" sz="1200" dirty="0"/>
          </a:p>
        </p:txBody>
      </p:sp>
      <p:sp>
        <p:nvSpPr>
          <p:cNvPr id="52" name="Text 35"/>
          <p:cNvSpPr/>
          <p:nvPr/>
        </p:nvSpPr>
        <p:spPr>
          <a:xfrm>
            <a:off x="3987800" y="56134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公有雲</a:t>
            </a:r>
            <a:endParaRPr lang="en-US" sz="1200" dirty="0"/>
          </a:p>
        </p:txBody>
      </p:sp>
      <p:sp>
        <p:nvSpPr>
          <p:cNvPr id="53" name="Text 36"/>
          <p:cNvSpPr/>
          <p:nvPr/>
        </p:nvSpPr>
        <p:spPr>
          <a:xfrm>
            <a:off x="6527800" y="143510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資訊雲</a:t>
            </a:r>
            <a:endParaRPr lang="en-US" sz="1200" dirty="0"/>
          </a:p>
        </p:txBody>
      </p:sp>
      <p:sp>
        <p:nvSpPr>
          <p:cNvPr id="54" name="Text 37"/>
          <p:cNvSpPr/>
          <p:nvPr/>
        </p:nvSpPr>
        <p:spPr>
          <a:xfrm>
            <a:off x="6527800" y="56134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地端（On-Premises）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64414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45720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4"/>
              </a:lnSpc>
              <a:buNone/>
            </a:pPr>
            <a:r>
              <a:rPr lang="en-US" sz="3476" b="1" i="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B：OAuth Server 上公有雲</a:t>
            </a:r>
            <a:endParaRPr lang="en-US" sz="3476" dirty="0"/>
          </a:p>
        </p:txBody>
      </p:sp>
      <p:sp>
        <p:nvSpPr>
          <p:cNvPr id="4" name="Text 2"/>
          <p:cNvSpPr/>
          <p:nvPr/>
        </p:nvSpPr>
        <p:spPr>
          <a:xfrm>
            <a:off x="812800" y="988020"/>
            <a:ext cx="10883392" cy="2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X 與 OAuth Server 在公有雲，對外一律經過 Apigee；API 服務在資訊雲，資料庫在地端</a:t>
            </a:r>
            <a:endParaRPr lang="en-US" sz="1339" dirty="0"/>
          </a:p>
        </p:txBody>
      </p:sp>
      <p:sp>
        <p:nvSpPr>
          <p:cNvPr id="5" name="Shape 3"/>
          <p:cNvSpPr/>
          <p:nvPr/>
        </p:nvSpPr>
        <p:spPr>
          <a:xfrm>
            <a:off x="3860800" y="1397000"/>
            <a:ext cx="4889500" cy="4445000"/>
          </a:xfrm>
          <a:prstGeom prst="rect">
            <a:avLst/>
          </a:prstGeom>
          <a:solidFill>
            <a:srgbClr val="EAF7EF"/>
          </a:solidFill>
          <a:ln/>
        </p:spPr>
      </p:sp>
      <p:sp>
        <p:nvSpPr>
          <p:cNvPr id="6" name="Shape 4"/>
          <p:cNvSpPr/>
          <p:nvPr/>
        </p:nvSpPr>
        <p:spPr>
          <a:xfrm>
            <a:off x="8877300" y="1397000"/>
            <a:ext cx="2501900" cy="1460500"/>
          </a:xfrm>
          <a:prstGeom prst="rect">
            <a:avLst/>
          </a:prstGeom>
          <a:solidFill>
            <a:srgbClr val="E8F0F7"/>
          </a:solidFill>
          <a:ln/>
        </p:spPr>
      </p:sp>
      <p:sp>
        <p:nvSpPr>
          <p:cNvPr id="7" name="Shape 5"/>
          <p:cNvSpPr/>
          <p:nvPr/>
        </p:nvSpPr>
        <p:spPr>
          <a:xfrm>
            <a:off x="8877300" y="2921000"/>
            <a:ext cx="2501900" cy="2921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Shape 6"/>
          <p:cNvSpPr/>
          <p:nvPr/>
        </p:nvSpPr>
        <p:spPr>
          <a:xfrm>
            <a:off x="819150" y="1530350"/>
            <a:ext cx="18923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9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1643410"/>
            <a:ext cx="279400" cy="27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2820" y="1960910"/>
            <a:ext cx="7049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5792" y="2247900"/>
            <a:ext cx="177901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Claude、ChatGPT、Gemini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" y="4387850"/>
            <a:ext cx="1892300" cy="113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13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25600" y="4544070"/>
            <a:ext cx="279400" cy="279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32989" y="4861570"/>
            <a:ext cx="8645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企業用戶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79666" y="5148560"/>
            <a:ext cx="15712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AI 工具的員工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24325" y="1660525"/>
            <a:ext cx="1885950" cy="3854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1A964"/>
            </a:solidFill>
            <a:prstDash val="solid"/>
          </a:ln>
        </p:spPr>
      </p:sp>
      <p:pic>
        <p:nvPicPr>
          <p:cNvPr id="17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89500" y="2752080"/>
            <a:ext cx="355600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48440" y="3183880"/>
            <a:ext cx="18376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X Platform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411216" y="3508970"/>
            <a:ext cx="131211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對外入口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 MCP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Token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轉送請求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81800" y="4476750"/>
            <a:ext cx="1778000" cy="1016000"/>
          </a:xfrm>
          <a:prstGeom prst="rect">
            <a:avLst/>
          </a:prstGeom>
          <a:solidFill>
            <a:srgbClr val="036B3F"/>
          </a:solidFill>
          <a:ln/>
        </p:spPr>
      </p:sp>
      <p:pic>
        <p:nvPicPr>
          <p:cNvPr id="21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31100" y="4575820"/>
            <a:ext cx="279400" cy="2794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3095" y="4893320"/>
            <a:ext cx="13754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Server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37124" y="5180310"/>
            <a:ext cx="16673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負責登入、發通行證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201150" y="1689100"/>
            <a:ext cx="2019300" cy="100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25" name="Image 4" descr="Lin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71100" y="1781820"/>
            <a:ext cx="279400" cy="279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87176" y="2099320"/>
            <a:ext cx="84724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服務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661808" y="2386310"/>
            <a:ext cx="1097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Bank API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201150" y="3054350"/>
            <a:ext cx="2019300" cy="1003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29" name="Image 5" descr="Databa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071100" y="3147070"/>
            <a:ext cx="279400" cy="2794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388614" y="3464570"/>
            <a:ext cx="16443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Bank 資料庫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9667463" y="3751560"/>
            <a:ext cx="10866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相關資料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9201150" y="4292600"/>
            <a:ext cx="2019300" cy="1225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9"/>
            </a:solidFill>
            <a:prstDash val="solid"/>
          </a:ln>
        </p:spPr>
      </p:sp>
      <p:pic>
        <p:nvPicPr>
          <p:cNvPr id="33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71100" y="4389785"/>
            <a:ext cx="279400" cy="2794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08046" y="4707285"/>
            <a:ext cx="12055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GMB 資料庫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9567863" y="4994275"/>
            <a:ext cx="12858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統編、帳號、密碼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資訊</a:t>
            </a:r>
            <a:endParaRPr lang="en-US" sz="1200" dirty="0"/>
          </a:p>
        </p:txBody>
      </p:sp>
      <p:pic>
        <p:nvPicPr>
          <p:cNvPr id="3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701800" y="2730500"/>
            <a:ext cx="127000" cy="1714500"/>
          </a:xfrm>
          <a:prstGeom prst="rect">
            <a:avLst/>
          </a:prstGeom>
        </p:spPr>
      </p:pic>
      <p:pic>
        <p:nvPicPr>
          <p:cNvPr id="37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654300" y="4921250"/>
            <a:ext cx="1524000" cy="127000"/>
          </a:xfrm>
          <a:prstGeom prst="rect">
            <a:avLst/>
          </a:prstGeom>
        </p:spPr>
      </p:pic>
      <p:pic>
        <p:nvPicPr>
          <p:cNvPr id="3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654300" y="2413000"/>
            <a:ext cx="1524000" cy="127000"/>
          </a:xfrm>
          <a:prstGeom prst="rect">
            <a:avLst/>
          </a:prstGeom>
        </p:spPr>
      </p:pic>
      <p:pic>
        <p:nvPicPr>
          <p:cNvPr id="39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654300" y="1905000"/>
            <a:ext cx="1524000" cy="127000"/>
          </a:xfrm>
          <a:prstGeom prst="rect">
            <a:avLst/>
          </a:prstGeom>
        </p:spPr>
      </p:pic>
      <p:pic>
        <p:nvPicPr>
          <p:cNvPr id="40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956300" y="4921250"/>
            <a:ext cx="889000" cy="127000"/>
          </a:xfrm>
          <a:prstGeom prst="rect">
            <a:avLst/>
          </a:prstGeom>
        </p:spPr>
      </p:pic>
      <p:pic>
        <p:nvPicPr>
          <p:cNvPr id="41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96300" y="4921250"/>
            <a:ext cx="762000" cy="127000"/>
          </a:xfrm>
          <a:prstGeom prst="rect">
            <a:avLst/>
          </a:prstGeom>
        </p:spPr>
      </p:pic>
      <p:pic>
        <p:nvPicPr>
          <p:cNvPr id="42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956300" y="2127250"/>
            <a:ext cx="3302000" cy="127000"/>
          </a:xfrm>
          <a:prstGeom prst="rect">
            <a:avLst/>
          </a:prstGeom>
        </p:spPr>
      </p:pic>
      <p:pic>
        <p:nvPicPr>
          <p:cNvPr id="43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147300" y="2635250"/>
            <a:ext cx="127000" cy="47625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1866900" y="3238500"/>
            <a:ext cx="876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設定 MCP</a:t>
            </a:r>
            <a:endParaRPr lang="en-US" sz="1200" dirty="0"/>
          </a:p>
        </p:txBody>
      </p:sp>
      <p:sp>
        <p:nvSpPr>
          <p:cNvPr id="45" name="Text 28"/>
          <p:cNvSpPr/>
          <p:nvPr/>
        </p:nvSpPr>
        <p:spPr>
          <a:xfrm>
            <a:off x="2794000" y="46863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登入驗證</a:t>
            </a:r>
            <a:endParaRPr lang="en-US" sz="1200" dirty="0"/>
          </a:p>
        </p:txBody>
      </p:sp>
      <p:sp>
        <p:nvSpPr>
          <p:cNvPr id="46" name="Text 29"/>
          <p:cNvSpPr/>
          <p:nvPr/>
        </p:nvSpPr>
        <p:spPr>
          <a:xfrm>
            <a:off x="2794000" y="2552700"/>
            <a:ext cx="1320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發放 Token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 AI 工具</a:t>
            </a:r>
            <a:endParaRPr lang="en-US" sz="1200" dirty="0"/>
          </a:p>
        </p:txBody>
      </p:sp>
      <p:sp>
        <p:nvSpPr>
          <p:cNvPr id="47" name="Text 30"/>
          <p:cNvSpPr/>
          <p:nvPr/>
        </p:nvSpPr>
        <p:spPr>
          <a:xfrm>
            <a:off x="2794000" y="1397000"/>
            <a:ext cx="1320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帶 Token 呼叫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</a:t>
            </a:r>
            <a:endParaRPr lang="en-US" sz="1200" dirty="0"/>
          </a:p>
        </p:txBody>
      </p:sp>
      <p:sp>
        <p:nvSpPr>
          <p:cNvPr id="48" name="Text 31"/>
          <p:cNvSpPr/>
          <p:nvPr/>
        </p:nvSpPr>
        <p:spPr>
          <a:xfrm>
            <a:off x="6070600" y="4521200"/>
            <a:ext cx="749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轉送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請求</a:t>
            </a:r>
            <a:endParaRPr lang="en-US" sz="1200" dirty="0"/>
          </a:p>
        </p:txBody>
      </p:sp>
      <p:sp>
        <p:nvSpPr>
          <p:cNvPr id="49" name="Text 32"/>
          <p:cNvSpPr/>
          <p:nvPr/>
        </p:nvSpPr>
        <p:spPr>
          <a:xfrm>
            <a:off x="8585200" y="5054600"/>
            <a:ext cx="660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比對帳密</a:t>
            </a:r>
            <a:endParaRPr lang="en-US" sz="1200" dirty="0"/>
          </a:p>
        </p:txBody>
      </p:sp>
      <p:sp>
        <p:nvSpPr>
          <p:cNvPr id="50" name="Text 33"/>
          <p:cNvSpPr/>
          <p:nvPr/>
        </p:nvSpPr>
        <p:spPr>
          <a:xfrm>
            <a:off x="10312400" y="2768600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讀取資料</a:t>
            </a:r>
            <a:endParaRPr lang="en-US" sz="1200" dirty="0"/>
          </a:p>
        </p:txBody>
      </p:sp>
      <p:sp>
        <p:nvSpPr>
          <p:cNvPr id="51" name="Text 34"/>
          <p:cNvSpPr/>
          <p:nvPr/>
        </p:nvSpPr>
        <p:spPr>
          <a:xfrm>
            <a:off x="6908800" y="187960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驗證 Token 後呼叫 API</a:t>
            </a:r>
            <a:endParaRPr lang="en-US" sz="1200" dirty="0"/>
          </a:p>
        </p:txBody>
      </p:sp>
      <p:sp>
        <p:nvSpPr>
          <p:cNvPr id="52" name="Text 35"/>
          <p:cNvSpPr/>
          <p:nvPr/>
        </p:nvSpPr>
        <p:spPr>
          <a:xfrm>
            <a:off x="3987800" y="561340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公有雲</a:t>
            </a:r>
            <a:endParaRPr lang="en-US" sz="1200" dirty="0"/>
          </a:p>
        </p:txBody>
      </p:sp>
      <p:sp>
        <p:nvSpPr>
          <p:cNvPr id="53" name="Text 36"/>
          <p:cNvSpPr/>
          <p:nvPr/>
        </p:nvSpPr>
        <p:spPr>
          <a:xfrm>
            <a:off x="9004300" y="14351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6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資訊雲</a:t>
            </a:r>
            <a:endParaRPr lang="en-US" sz="1200" dirty="0"/>
          </a:p>
        </p:txBody>
      </p:sp>
      <p:sp>
        <p:nvSpPr>
          <p:cNvPr id="54" name="Text 37"/>
          <p:cNvSpPr/>
          <p:nvPr/>
        </p:nvSpPr>
        <p:spPr>
          <a:xfrm>
            <a:off x="9004300" y="561340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地端（On-Premises）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4572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一步步看：AI 工具怎麼拿到通行證</a:t>
            </a:r>
            <a:endParaRPr lang="en-US" sz="3600" dirty="0"/>
          </a:p>
        </p:txBody>
      </p:sp>
      <p:pic>
        <p:nvPicPr>
          <p:cNvPr id="3" name="Image 0" descr="OAuth 授權碼加 PKCE 流程時序圖：Client 產生 PKCE 參數並將使用者導向 OAuth Server，使用者在 OAuth Server輸入統編、帳號、密碼， OAuth Server以授權碼導回，Client 以授權碼加 code_verifier 換取 Access Token 與 Refresh Token，再帶 Token 呼叫 MCP Server，MCP Server 以 JWKS 驗證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812800" y="1112490"/>
            <a:ext cx="10566400" cy="4476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0" y="64414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4572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3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階段功能規劃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175990"/>
          <a:ext cx="10553700" cy="3824337"/>
        </p:xfrm>
        <a:graphic>
          <a:graphicData uri="http://schemas.openxmlformats.org/drawingml/2006/table">
            <a:tbl>
              <a:tblPr/>
              <a:tblGrid>
                <a:gridCol w="1266444"/>
                <a:gridCol w="3166110"/>
                <a:gridCol w="612114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登入頁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使用者只在 OAuth Server 輸入統編、帳號、密碼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5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標準授權流程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採 Authorization Code Flow＋PKCE：確認身分後才發通行證，並防止被攔截冒用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Token（通行證）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格式、幾分鐘就到期；MCP Server 可自行驗證真偽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Token（自動續期）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通行證到期自動換新，不用一直重新登入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註冊（CIMD＋預先註冊）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Claude、ChatGPT 以 CIMD 自動註冊；Gemini 由管理員預先註冊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本階段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 與 JWKS 端點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公開 OAuth Server 的設定與驗證公鑰，讓 AI 工具自動找到登入位置與驗證方式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ED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後續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撤銷（/revoke）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登出、帳號停用或異常時作廢 Token，通行證到期後即無法再存取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後續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已授權應用管理頁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使用者自行查看、取消 AI 工具的存取權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後續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多因子驗證（MFA）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登入時多一道驗證，安全性更高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058400" y="64414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身分驗證標準化：導入 OAuth 2.1">
  <a:themeElements>
    <a:clrScheme name="MCP 身分驗證標準化：導入 OAuth 2.1">
      <a:dk1>
        <a:srgbClr val="036B3F"/>
      </a:dk1>
      <a:lt1>
        <a:srgbClr val="FFFFFF"/>
      </a:lt1>
      <a:dk2>
        <a:srgbClr val="42906F"/>
      </a:dk2>
      <a:lt2>
        <a:srgbClr val="E6F0EC"/>
      </a:lt2>
      <a:accent1>
        <a:srgbClr val="01A964"/>
      </a:accent1>
      <a:accent2>
        <a:srgbClr val="3B6E99"/>
      </a:accent2>
      <a:accent3>
        <a:srgbClr val="E6FED2"/>
      </a:accent3>
      <a:accent4>
        <a:srgbClr val="7F7F7F"/>
      </a:accent4>
      <a:accent5>
        <a:srgbClr val="9AA0A6"/>
      </a:accent5>
      <a:accent6>
        <a:srgbClr val="68A68C"/>
      </a:accent6>
      <a:hlink>
        <a:srgbClr val="0563C1"/>
      </a:hlink>
      <a:folHlink>
        <a:srgbClr val="954F72"/>
      </a:folHlink>
    </a:clrScheme>
    <a:fontScheme name="MCP 身分驗證標準化：導入 OAuth 2.1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身分驗證標準化：導入 OAuth 2.1</dc:title>
  <dc:subject/>
  <dc:creator/>
  <cp:lastModifiedBy/>
  <cp:revision>1</cp:revision>
  <dcterms:created xsi:type="dcterms:W3CDTF">2026-10-13T07:50:07Z</dcterms:created>
  <dcterms:modified xsi:type="dcterms:W3CDTF">2026-10-13T07:50:07Z</dcterms:modified>
</cp:coreProperties>
</file>