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重點一句話：OAuth 讓用戶端「拿通行證」而不是「拿密碼」。使用者只在授權伺服器的登入頁輸入統編、帳號、密碼，用戶端與 MCP Server 都只拿到 Token。四個角色中，授權伺服器負責驗證身分與核發 Token，是本階段要建置的核心。為什麼 MCP 需要：MCP 授權規範以 OAuth 2.1 為基礎，MCP Server 透過 Protected Resource Metadata（RFC 9728）指出授權伺服器，Client 再透過 Authorization Server Metadata（RFC 8414）自動完成流程。自定義 API 無法被 Claude、ChatGPT、Gemini 等主流用戶端使用。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OAuth 最經典的角色架構圖，套進 MCP 情境。① 企業用戶透過 AI 工具（MCP Client）要使用 MCP Server 提供的服務。② Client 把使用者導到授權伺服器的登入頁，統編、帳號、密碼只在這一步、只在授權伺服器輸入，這條線特別用實線標出。③ 授權伺服器驗證成功後發一次性的授權碼，經瀏覽器導回 Client。④ Client 用授權碼加 PKCE 的 code_verifier 向授權伺服器換發 Access Token。⑤ Client 帶 Token 呼叫 MCP Server 的工具。⑥ MCP Server 不需要知道密碼，只用授權伺服器公布的 JWKS 公鑰驗證 Token 的簽章、受眾與到期時間，等於把身分驗證委託給授權伺服器。下一頁的時序圖是同一個流程的逐步細節。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OAuth 最經典的 Authorization Code Flow，加上 PKCE，也是本階段唯一實作的授權流程。① Client 先產生隨機的 code_verifier，並算出它的雜湊 code_challenge。②③ 把使用者的瀏覽器導向授權伺服器的 /authorize，帶上 code_challenge、防偽用的 state，以及目標 MCP Server 網址 resource。④ 重點：統編、帳號、密碼只在授權伺服器的登入頁輸入，Client 與 MCP Server 都看不到。⑤⑥ 授權伺服器驗證成功後，以一次性的授權碼導回 Client 的 redirect_uri，並附上 iss 讓 Client 確認是哪個授權伺服器發的。⑦ Client 用授權碼加原始的 code_verifier 換 Token；授權伺服器比對雜湊，確保換 Token 的跟發起登入的是同一個 Client，授權碼被攔截也無法使用。⑧ 授權伺服器回傳短效的 JWT Access Token 與 Refresh Token。⑨⑩ Client 帶 Token 呼叫 MCP Server，MCP Server 以授權伺服器公布的 JWKS 公鑰驗證簽章、受眾 aud 與到期時間，不需每次回呼授權伺服器。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架構分工：授權伺服器負責「發證」，MCP Server 負責「驗證」。流程四步：① MCP Client 將使用者導向授權伺服器登入頁，使用者在此輸入統編、帳號、密碼；② Client 以授權碼加上 PKCE 驗證碼向 /token 換取 Access Token；③ Client 帶 Token 呼叫 MCP 工具；④ MCP Server 以授權伺服器公布的 JWKS 公鑰驗證 Token 簽章、受眾（aud）與到期時間，不需每次回呼授權伺服器。MVP 範圍刻意收斂在標準最小集合，全部自行實作、不依賴第三方框架，方便日後接手維護。Client 註冊依 MCP 規範 2026-07-28 版：首選 Client ID Metadata Documents（CIMD）——用戶端以自己的 HTTPS 網址當 client_id，授權伺服器抓取該網址的 JSON 中繼資料，驗證 client_id 完全相符、redirect_uri 在清單內，並在中繼資料宣告 client_id_metadata_document_supported: true。這讓 Claude 等公開用戶端不需事先登記也能接入，且授權伺服器不必維護註冊資料庫。已知的內部用戶端則用預先註冊。動態註冊（DCR）在新規範中已標為棄用，僅為向下相容保留，第一階段不做。另外規範建議授權回應帶 iss 參數（RFC 9207）防範混用攻擊，建議一併實作。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0000"/>
              </a:lnSpc>
              <a:buNone/>
              <a:defRPr lang="en-US" sz="360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0000"/>
              </a:lnSpc>
              <a:buNone/>
              <a:defRPr lang="en-US" sz="360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OAuth：發通行證，不交鑰匙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18869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也是 MCP 官方指定的授權標準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800" y="1691580"/>
            <a:ext cx="690676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密碼只在授權伺服器輸入；用戶端拿到的是</a:t>
            </a:r>
            <a:r>
              <a:rPr lang="en-US" sz="14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有範圍、有時效、可撤銷</a:t>
            </a: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 Token。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110680"/>
            <a:ext cx="3276600" cy="1229271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6" name="Text 4"/>
          <p:cNvSpPr/>
          <p:nvPr/>
        </p:nvSpPr>
        <p:spPr>
          <a:xfrm>
            <a:off x="1016000" y="2313880"/>
            <a:ext cx="2956306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資源擁有者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16000" y="2638971"/>
            <a:ext cx="295630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企業用戶（統編＋帳號）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41800" y="2110680"/>
            <a:ext cx="3276600" cy="1229271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9" name="Text 7"/>
          <p:cNvSpPr/>
          <p:nvPr/>
        </p:nvSpPr>
        <p:spPr>
          <a:xfrm>
            <a:off x="4445000" y="2313880"/>
            <a:ext cx="2956306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用戶端 Client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445000" y="2638971"/>
            <a:ext cx="29563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Client：Claude、ChatGPT、Gemini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492351"/>
            <a:ext cx="3276600" cy="1229271"/>
          </a:xfrm>
          <a:prstGeom prst="rect">
            <a:avLst/>
          </a:prstGeom>
          <a:solidFill>
            <a:srgbClr val="E6FED2"/>
          </a:solidFill>
          <a:ln/>
        </p:spPr>
      </p:sp>
      <p:sp>
        <p:nvSpPr>
          <p:cNvPr id="12" name="Text 10"/>
          <p:cNvSpPr/>
          <p:nvPr/>
        </p:nvSpPr>
        <p:spPr>
          <a:xfrm>
            <a:off x="1016000" y="3695551"/>
            <a:ext cx="2956306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授權伺服器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16000" y="4020641"/>
            <a:ext cx="295630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驗證使用者身分、核發 Token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241800" y="3492351"/>
            <a:ext cx="3276600" cy="1229271"/>
          </a:xfrm>
          <a:prstGeom prst="rect">
            <a:avLst/>
          </a:prstGeom>
          <a:solidFill>
            <a:srgbClr val="E6FED2"/>
          </a:solidFill>
          <a:ln/>
        </p:spPr>
      </p:sp>
      <p:sp>
        <p:nvSpPr>
          <p:cNvPr id="15" name="Text 13"/>
          <p:cNvSpPr/>
          <p:nvPr/>
        </p:nvSpPr>
        <p:spPr>
          <a:xfrm>
            <a:off x="4445000" y="3695551"/>
            <a:ext cx="2956306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資源伺服器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445000" y="4020641"/>
            <a:ext cx="29563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Server：驗證 Token、提供資料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23200" y="1691580"/>
            <a:ext cx="3556000" cy="4150420"/>
          </a:xfrm>
          <a:prstGeom prst="rect">
            <a:avLst/>
          </a:prstGeom>
          <a:solidFill>
            <a:srgbClr val="036B3F"/>
          </a:solidFill>
          <a:ln/>
        </p:spPr>
      </p:sp>
      <p:sp>
        <p:nvSpPr>
          <p:cNvPr id="18" name="Text 16"/>
          <p:cNvSpPr/>
          <p:nvPr/>
        </p:nvSpPr>
        <p:spPr>
          <a:xfrm>
            <a:off x="8128000" y="1996380"/>
            <a:ext cx="3034792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3F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為什麼 MCP 需要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128000" y="2448471"/>
            <a:ext cx="30347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規範明定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28000" y="2748161"/>
            <a:ext cx="303479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授權採 OAuth 2.1，MCP Server 即資源伺服器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28000" y="3383161"/>
            <a:ext cx="30347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自動對接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128000" y="3682851"/>
            <a:ext cx="3034792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依標準中繼資料自動找到授權伺服器；自定義 API 接不上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28000" y="4317851"/>
            <a:ext cx="30347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一次建置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128000" y="4617541"/>
            <a:ext cx="3251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所有符合標準的用戶端通用，不再逐案客製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763000" y="6238280"/>
            <a:ext cx="2616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DataEco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情境的 OAuth 全貌：四個角色怎麼互動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315690"/>
            <a:ext cx="2794000" cy="1143000"/>
          </a:xfrm>
          <a:prstGeom prst="rect">
            <a:avLst/>
          </a:prstGeom>
          <a:solidFill>
            <a:srgbClr val="F3F3F3"/>
          </a:solidFill>
          <a:ln/>
        </p:spPr>
      </p:sp>
      <p:pic>
        <p:nvPicPr>
          <p:cNvPr id="4" name="Image 0" descr="Cha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44700" y="1443980"/>
            <a:ext cx="330200" cy="330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8594" y="1812280"/>
            <a:ext cx="120241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Client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064002" y="2117080"/>
            <a:ext cx="22915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Claude、ChatGPT、Gemini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585200" y="1315690"/>
            <a:ext cx="2794000" cy="1143000"/>
          </a:xfrm>
          <a:prstGeom prst="rect">
            <a:avLst/>
          </a:prstGeom>
          <a:solidFill>
            <a:srgbClr val="E6FED2"/>
          </a:solidFill>
          <a:ln/>
        </p:spPr>
      </p:sp>
      <p:pic>
        <p:nvPicPr>
          <p:cNvPr id="8" name="Image 1" descr="Databas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817100" y="1443980"/>
            <a:ext cx="330200" cy="330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342596" y="1812280"/>
            <a:ext cx="12792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778002" y="2117080"/>
            <a:ext cx="24083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資源伺服器：提供工具與資料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12800" y="4617690"/>
            <a:ext cx="2794000" cy="1143000"/>
          </a:xfrm>
          <a:prstGeom prst="rect">
            <a:avLst/>
          </a:prstGeom>
          <a:solidFill>
            <a:srgbClr val="F3F3F3"/>
          </a:solidFill>
          <a:ln/>
        </p:spPr>
      </p:sp>
      <p:pic>
        <p:nvPicPr>
          <p:cNvPr id="12" name="Image 2" descr="User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044700" y="4745980"/>
            <a:ext cx="330200" cy="330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47545" y="5114280"/>
            <a:ext cx="92446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企業用戶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098233" y="5419080"/>
            <a:ext cx="22231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資源擁有者（統編＋帳號）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585200" y="4617690"/>
            <a:ext cx="2794000" cy="1143000"/>
          </a:xfrm>
          <a:prstGeom prst="rect">
            <a:avLst/>
          </a:prstGeom>
          <a:solidFill>
            <a:srgbClr val="036B3F"/>
          </a:solidFill>
          <a:ln/>
        </p:spPr>
      </p:sp>
      <p:pic>
        <p:nvPicPr>
          <p:cNvPr id="16" name="Image 3" descr="Lo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817100" y="4745980"/>
            <a:ext cx="330200" cy="330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404390" y="5114280"/>
            <a:ext cx="115562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授權伺服器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8745260" y="5419080"/>
            <a:ext cx="24738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2.1：登入、核發 Token</a:t>
            </a:r>
            <a:endParaRPr lang="en-US" sz="1200" dirty="0"/>
          </a:p>
        </p:txBody>
      </p:sp>
      <p:pic>
        <p:nvPicPr>
          <p:cNvPr id="19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146300" y="2395190"/>
            <a:ext cx="127000" cy="2286000"/>
          </a:xfrm>
          <a:prstGeom prst="rect">
            <a:avLst/>
          </a:prstGeom>
        </p:spPr>
      </p:pic>
      <p:pic>
        <p:nvPicPr>
          <p:cNvPr id="20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3530600" y="5112990"/>
            <a:ext cx="5130800" cy="152400"/>
          </a:xfrm>
          <a:prstGeom prst="rect">
            <a:avLst/>
          </a:prstGeom>
        </p:spPr>
      </p:pic>
      <p:pic>
        <p:nvPicPr>
          <p:cNvPr id="21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543300" y="2204690"/>
            <a:ext cx="5105400" cy="2730500"/>
          </a:xfrm>
          <a:prstGeom prst="rect">
            <a:avLst/>
          </a:prstGeom>
        </p:spPr>
      </p:pic>
      <p:pic>
        <p:nvPicPr>
          <p:cNvPr id="22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3543300" y="1823690"/>
            <a:ext cx="5105400" cy="127000"/>
          </a:xfrm>
          <a:prstGeom prst="rect">
            <a:avLst/>
          </a:prstGeom>
        </p:spPr>
      </p:pic>
      <p:pic>
        <p:nvPicPr>
          <p:cNvPr id="23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9918700" y="2395190"/>
            <a:ext cx="127000" cy="2286000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2336800" y="3347690"/>
            <a:ext cx="196215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使用 AI 工具存取服務</a:t>
            </a:r>
            <a:endParaRPr lang="en-US" sz="1300" dirty="0"/>
          </a:p>
        </p:txBody>
      </p:sp>
      <p:sp>
        <p:nvSpPr>
          <p:cNvPr id="25" name="Text 14"/>
          <p:cNvSpPr/>
          <p:nvPr/>
        </p:nvSpPr>
        <p:spPr>
          <a:xfrm>
            <a:off x="3793744" y="4744690"/>
            <a:ext cx="460451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在授權伺服器登入頁輸入統編＋帳號＋密碼，同意授權</a:t>
            </a:r>
            <a:endParaRPr lang="en-US" sz="1300" dirty="0"/>
          </a:p>
        </p:txBody>
      </p:sp>
      <p:sp>
        <p:nvSpPr>
          <p:cNvPr id="26" name="Text 15"/>
          <p:cNvSpPr/>
          <p:nvPr/>
        </p:nvSpPr>
        <p:spPr>
          <a:xfrm>
            <a:off x="5638800" y="2522190"/>
            <a:ext cx="2877820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核發授權碼（經瀏覽器導回）</a:t>
            </a:r>
            <a:endParaRPr lang="en-US" sz="1300" dirty="0"/>
          </a:p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授權碼＋PKCE 換發 Access Token</a:t>
            </a:r>
            <a:endParaRPr lang="en-US" sz="1300" dirty="0"/>
          </a:p>
        </p:txBody>
      </p:sp>
      <p:sp>
        <p:nvSpPr>
          <p:cNvPr id="27" name="Text 16"/>
          <p:cNvSpPr/>
          <p:nvPr/>
        </p:nvSpPr>
        <p:spPr>
          <a:xfrm>
            <a:off x="4186174" y="1544290"/>
            <a:ext cx="381965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帶 Access Token 呼叫 MCP 工具</a:t>
            </a:r>
            <a:endParaRPr lang="en-US" sz="1300" dirty="0"/>
          </a:p>
        </p:txBody>
      </p:sp>
      <p:sp>
        <p:nvSpPr>
          <p:cNvPr id="28" name="Text 17"/>
          <p:cNvSpPr/>
          <p:nvPr/>
        </p:nvSpPr>
        <p:spPr>
          <a:xfrm>
            <a:off x="7081266" y="3411190"/>
            <a:ext cx="279933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以 JWKS 公鑰驗證 Token</a:t>
            </a:r>
            <a:endParaRPr lang="en-US" sz="1300" dirty="0"/>
          </a:p>
        </p:txBody>
      </p:sp>
      <p:sp>
        <p:nvSpPr>
          <p:cNvPr id="29" name="Text 18"/>
          <p:cNvSpPr/>
          <p:nvPr/>
        </p:nvSpPr>
        <p:spPr>
          <a:xfrm>
            <a:off x="8763000" y="6238280"/>
            <a:ext cx="2616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DataEco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1379200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Code＋PKCE：密碼只進授權伺服器</a:t>
            </a:r>
            <a:endParaRPr lang="en-US" sz="3600" dirty="0"/>
          </a:p>
        </p:txBody>
      </p:sp>
      <p:pic>
        <p:nvPicPr>
          <p:cNvPr id="3" name="Image 0" descr="OAuth 授權碼加 PKCE 流程時序圖：Client 產生 PKCE 參數並將使用者導向授權伺服器，使用者在授權伺服器輸入統編、帳號、密碼，授權伺服器以授權碼導回，Client 以授權碼加 code_verifier 換取 Access Token 與 Refresh Token，再帶 Token 呼叫 MCP Server，MCP Server 以 JWKS 驗證">    </p:cNvPr>
          <p:cNvPicPr>
            <a:picLocks noChangeAspect="1"/>
          </p:cNvPicPr>
          <p:nvPr/>
        </p:nvPicPr>
        <p:blipFill>
          <a:blip r:embed="rId1"/>
          <a:srcRect l="-18" r="-18" t="0" b="0"/>
          <a:stretch/>
        </p:blipFill>
        <p:spPr>
          <a:xfrm>
            <a:off x="812800" y="1315690"/>
            <a:ext cx="10566400" cy="4476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763000" y="6238280"/>
            <a:ext cx="2616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DataEco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架構：先做 OAuth 2.1 標準最小集合</a:t>
            </a:r>
            <a:endParaRPr lang="en-US" sz="3600" dirty="0"/>
          </a:p>
        </p:txBody>
      </p:sp>
      <p:pic>
        <p:nvPicPr>
          <p:cNvPr id="3" name="Image 0" descr="目標架構：MCP Client 導向 OAuth 授權伺服器登入並取得 Token，再帶 Token 呼叫 MCP Server，MCP Server 以 JWKS 驗證 Token">    </p:cNvPr>
          <p:cNvPicPr>
            <a:picLocks noChangeAspect="1"/>
          </p:cNvPicPr>
          <p:nvPr/>
        </p:nvPicPr>
        <p:blipFill>
          <a:blip r:embed="rId1"/>
          <a:srcRect l="0" r="0" t="-19" b="-19"/>
          <a:stretch/>
        </p:blipFill>
        <p:spPr>
          <a:xfrm>
            <a:off x="812800" y="1366490"/>
            <a:ext cx="10566400" cy="2095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12800" y="3715990"/>
            <a:ext cx="7112000" cy="1823690"/>
          </a:xfrm>
          <a:prstGeom prst="rect">
            <a:avLst/>
          </a:prstGeom>
          <a:solidFill>
            <a:srgbClr val="E6FED2"/>
          </a:solidFill>
          <a:ln/>
        </p:spPr>
      </p:sp>
      <p:sp>
        <p:nvSpPr>
          <p:cNvPr id="5" name="Text 2"/>
          <p:cNvSpPr/>
          <p:nvPr/>
        </p:nvSpPr>
        <p:spPr>
          <a:xfrm>
            <a:off x="1016000" y="3919190"/>
            <a:ext cx="6906768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第一階段 MVP 實作（不使用第三方框架）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113282" y="4269680"/>
            <a:ext cx="6801866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718" indent="-1567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Code＋PKCE（S256），回應帶 iss</a:t>
            </a:r>
            <a:endParaRPr lang="en-US" sz="1400" dirty="0"/>
          </a:p>
          <a:p>
            <a:pPr algn="l" marL="156718" indent="-1567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標準端點：中繼資料、/authorize、/token、JWKS、撤銷</a:t>
            </a:r>
            <a:endParaRPr lang="en-US" sz="1400" dirty="0"/>
          </a:p>
          <a:p>
            <a:pPr algn="l" marL="156718" indent="-1567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Access Token（短效）＋ Refresh Token 輪替</a:t>
            </a:r>
            <a:endParaRPr lang="en-US" sz="1400" dirty="0"/>
          </a:p>
          <a:p>
            <a:pPr algn="l" marL="156718" indent="-1567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註冊：</a:t>
            </a: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CIMD 為主</a:t>
            </a: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、預先註冊為輔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077200" y="3715990"/>
            <a:ext cx="3302000" cy="182369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" name="Text 5"/>
          <p:cNvSpPr/>
          <p:nvPr/>
        </p:nvSpPr>
        <p:spPr>
          <a:xfrm>
            <a:off x="8280400" y="3919190"/>
            <a:ext cx="2982468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後續階段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377682" y="4269680"/>
            <a:ext cx="287756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718" indent="-1567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DCR（新規範已棄用）</a:t>
            </a:r>
            <a:endParaRPr lang="en-US" sz="1400" dirty="0"/>
          </a:p>
          <a:p>
            <a:pPr algn="l" marL="156718" indent="-1567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多因子驗證（MFA）</a:t>
            </a:r>
            <a:endParaRPr lang="en-US" sz="1400" dirty="0"/>
          </a:p>
          <a:p>
            <a:pPr algn="l" marL="156718" indent="-156718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SSO、管理後台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763000" y="6238280"/>
            <a:ext cx="2616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DataEco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CP 身分驗證標準化：導入 OAuth 2.1">
  <a:themeElements>
    <a:clrScheme name="MCP 身分驗證標準化：導入 OAuth 2.1">
      <a:dk1>
        <a:srgbClr val="036B3F"/>
      </a:dk1>
      <a:lt1>
        <a:srgbClr val="FFFFFF"/>
      </a:lt1>
      <a:dk2>
        <a:srgbClr val="42906F"/>
      </a:dk2>
      <a:lt2>
        <a:srgbClr val="E6F0EC"/>
      </a:lt2>
      <a:accent1>
        <a:srgbClr val="E6FED2"/>
      </a:accent1>
      <a:accent2>
        <a:srgbClr val="F3FC77"/>
      </a:accent2>
      <a:accent3>
        <a:srgbClr val="7F7F7F"/>
      </a:accent3>
      <a:accent4>
        <a:srgbClr val="9AA0A6"/>
      </a:accent4>
      <a:accent5>
        <a:srgbClr val="68A68C"/>
      </a:accent5>
      <a:accent6>
        <a:srgbClr val="8EBCA9"/>
      </a:accent6>
      <a:hlink>
        <a:srgbClr val="0563C1"/>
      </a:hlink>
      <a:folHlink>
        <a:srgbClr val="954F72"/>
      </a:folHlink>
    </a:clrScheme>
    <a:fontScheme name="MCP 身分驗證標準化：導入 OAuth 2.1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身分驗證標準化：導入 OAuth 2.1</dc:title>
  <dc:subject/>
  <dc:creator/>
  <cp:lastModifiedBy/>
  <cp:revision>1</cp:revision>
  <dcterms:created xsi:type="dcterms:W3CDTF">2026-10-07T08:42:23Z</dcterms:created>
  <dcterms:modified xsi:type="dcterms:W3CDTF">2026-10-07T08:42:23Z</dcterms:modified>
</cp:coreProperties>
</file>