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方案內用量</c:v>
                </c:pt>
              </c:strCache>
            </c:strRef>
          </c:tx>
          <c:spPr>
            <a:solidFill>
              <a:srgbClr val="106B4B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一般</c:v>
                  </c:pt>
                  <c:pt idx="1">
                    <c:v>B 一般</c:v>
                  </c:pt>
                  <c:pt idx="2">
                    <c:v>C 一般</c:v>
                  </c:pt>
                  <c:pt idx="3">
                    <c:v>D 重度</c:v>
                  </c:pt>
                  <c:pt idx="4">
                    <c:v>E 重度</c:v>
                  </c:pt>
                  <c:pt idx="5">
                    <c:v>F 一般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400</c:v>
                </c:pt>
                <c:pt idx="2">
                  <c:v>700</c:v>
                </c:pt>
                <c:pt idx="3">
                  <c:v>4000</c:v>
                </c:pt>
                <c:pt idx="4">
                  <c:v>2300</c:v>
                </c:pt>
                <c:pt idx="5">
                  <c:v>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超出方案（需提報告）</c:v>
                </c:pt>
              </c:strCache>
            </c:strRef>
          </c:tx>
          <c:spPr>
            <a:solidFill>
              <a:srgbClr val="C73E3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一般</c:v>
                  </c:pt>
                  <c:pt idx="1">
                    <c:v>B 一般</c:v>
                  </c:pt>
                  <c:pt idx="2">
                    <c:v>C 一般</c:v>
                  </c:pt>
                  <c:pt idx="3">
                    <c:v>D 重度</c:v>
                  </c:pt>
                  <c:pt idx="4">
                    <c:v>E 重度</c:v>
                  </c:pt>
                  <c:pt idx="5">
                    <c:v>F 一般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600</c:v>
                </c:pt>
                <c:pt idx="1">
                  <c:v>0</c:v>
                </c:pt>
                <c:pt idx="2">
                  <c:v>0</c:v>
                </c:pt>
                <c:pt idx="3">
                  <c:v>800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閒置額度</c:v>
                </c:pt>
              </c:strCache>
            </c:strRef>
          </c:tx>
          <c:spPr>
            <a:solidFill>
              <a:srgbClr val="B2D6C3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Microsoft JhengHe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一般</c:v>
                  </c:pt>
                  <c:pt idx="1">
                    <c:v>B 一般</c:v>
                  </c:pt>
                  <c:pt idx="2">
                    <c:v>C 一般</c:v>
                  </c:pt>
                  <c:pt idx="3">
                    <c:v>D 重度</c:v>
                  </c:pt>
                  <c:pt idx="4">
                    <c:v>E 重度</c:v>
                  </c:pt>
                  <c:pt idx="5">
                    <c:v>F 一般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600</c:v>
                </c:pt>
                <c:pt idx="2">
                  <c:v>300</c:v>
                </c:pt>
                <c:pt idx="3">
                  <c:v>0</c:v>
                </c:pt>
                <c:pt idx="4">
                  <c:v>1700</c:v>
                </c:pt>
                <c:pt idx="5">
                  <c:v>100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Microsoft JhengHe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856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5E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17F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856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今天用幾分鐘說明為什麼要做共用額度池、它怎麼運作、大家要怎麼使用，最後說明我們如何控管共用帳號的風險。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目前每人額度固定，只有一般 1,000 與重度 4,000 兩種方案，重度名額有限。超過方案額度就要另外提專案報告。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重點是額度綁在個人身上：有人不夠、有人用不完，而且每個月的需求都會變，目前又沒有機制能調度。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這是示意：6 個人，4 個一般 1,000、2 個重度 4,000。A、D 共超出 1,400，另一邊 B、C、E、F 共閒置 2,700。額度總量其實夠，只是分配不對。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同樣 6 個人，把額度放進共用池：總額度 12,000、需求 10,700，大家都夠用。對科長來說，也能一次看到所有帳號的狀況並調度。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簡單說：帳號進池子、科長開授權、你用 Launcher 取用、用完釋放。科長則在管理台看整體水位來調度。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系統畫面以中文為主，括號內的英文會出現在部分畫面或錯誤訊息裡，對照一下就好。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前兩步只需要做一次。之後每次使用就是從 Launcher 啟動、用完關閉。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三個水位：50% 以下充裕、50 到 80% 偏高、80% 以上吃緊。偏高就先反映，科長優先在池內調度，真的整池都不夠才走專案報告。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最常被問的是額度會不會被別人用、超過方案怎麼辦，以及 IP 認不到的問題。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遇到錯誤時，最有幫助的就是提供追蹤編號與發生時間。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從身分、權限、使用過程到事後稽核，每一層都有對應的控管，所以共用帳號不代表誰都能用、出事查不到人。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開放提問。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5120640" cy="5120640"/>
          </a:xfrm>
          <a:prstGeom prst="ellipse">
            <a:avLst/>
          </a:prstGeom>
          <a:solidFill>
            <a:srgbClr val="0C563C"/>
          </a:solidFill>
          <a:ln w="12700">
            <a:solidFill>
              <a:srgbClr val="0C56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194560"/>
            <a:ext cx="2926080" cy="292608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0" y="3017520"/>
            <a:ext cx="1280160" cy="128016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6CF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給所有 Codex 使用者的說明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Codex 共用額度池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EB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讓每一分額度，用在最需要的地方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2D6C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為什麼需要 ・ 運作方式 ・ 使用方式 ・ 常見問題 ・ 風險控管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目前的 Codex 額度制度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337560" cy="3108960"/>
          </a:xfrm>
          <a:prstGeom prst="roundRect">
            <a:avLst>
              <a:gd name="adj" fmla="val 3529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一般使用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4688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1,000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每人固定額度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多數同仁的方案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3337560" cy="3108960"/>
          </a:xfrm>
          <a:prstGeom prst="roundRect">
            <a:avLst>
              <a:gd name="adj" fmla="val 3529"/>
            </a:avLst>
          </a:prstGeom>
          <a:solidFill>
            <a:srgbClr val="F8F0DA"/>
          </a:solidFill>
          <a:ln w="12700">
            <a:solidFill>
              <a:srgbClr val="F8F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重度使用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4688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4,000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每人固定額度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僅有部分名額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818120" y="2971800"/>
            <a:ext cx="548640" cy="548640"/>
          </a:xfrm>
          <a:prstGeom prst="rightArrow">
            <a:avLst/>
          </a:prstGeom>
          <a:solidFill>
            <a:srgbClr val="DDE5E0"/>
          </a:solidFill>
          <a:ln w="12700">
            <a:solidFill>
              <a:srgbClr val="DDE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9640" y="1691640"/>
            <a:ext cx="3090672" cy="3108960"/>
          </a:xfrm>
          <a:prstGeom prst="roundRect">
            <a:avLst>
              <a:gd name="adj" fmla="val 3550"/>
            </a:avLst>
          </a:prstGeom>
          <a:solidFill>
            <a:srgbClr val="FDEAEA"/>
          </a:solidFill>
          <a:ln w="12700">
            <a:solidFill>
              <a:srgbClr val="FDEA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23960" y="19659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73E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超過方案額度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246888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需另提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專案報告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823960" y="37490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流程需要時間，工作可能先停擺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方案是固定的，但每個人、每個月的需求並不固定。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分了兩級，還是常常對不上需求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C73E3E"/>
          </a:solidFill>
          <a:ln w="12700">
            <a:solidFill>
              <a:srgbClr val="C73E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↑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有人不夠用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253288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任務一多，額度在月中就見底；要再加只能另提專案報告，工作先卡住。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057400"/>
            <a:ext cx="685800" cy="68580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↓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有人用不完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53288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同一時間，也有人月底還剩一大半額度，卻沒辦法挪給需要的人。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4297680"/>
            <a:ext cx="685800" cy="685800"/>
          </a:xfrm>
          <a:prstGeom prst="ellipse">
            <a:avLst/>
          </a:prstGeom>
          <a:solidFill>
            <a:srgbClr val="D4890F"/>
          </a:solidFill>
          <a:ln w="12700">
            <a:solidFill>
              <a:srgbClr val="D4890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79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每個月複雜度不同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731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上個月任務複雜、用量高，不代表下個月也一樣；固定方案追不上浮動需求。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93192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4297680"/>
            <a:ext cx="685800" cy="685800"/>
          </a:xfrm>
          <a:prstGeom prst="ellipse">
            <a:avLst/>
          </a:prstGeom>
          <a:solidFill>
            <a:srgbClr val="66717F"/>
          </a:solidFill>
          <a:ln w="12700">
            <a:solidFill>
              <a:srgbClr val="6671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2793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行內沒有調度機制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7731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看不出誰快用完、誰還有餘裕，也無法在需要時重新分配。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各用各的：一邊停擺，一邊閒置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55448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737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73E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1,400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超出方案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788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A、D 需另提專案報告，或工作停擺等待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37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2,700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069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閒置額度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B、C、E、F 用不完，月底就浪費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138160" y="5029200"/>
            <a:ext cx="3502152" cy="960120"/>
          </a:xfrm>
          <a:prstGeom prst="roundRect">
            <a:avLst>
              <a:gd name="adj" fmla="val 11429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 2,700，足以補上超出的 1,400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＊示意數字，非實際用量；圖表可直接在 PowerPoint 中編輯資料。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把額度放進同一個池子，依需要調度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同一組人放進共用池（示意）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1091672" cy="822960"/>
          </a:xfrm>
          <a:prstGeom prst="roundRect">
            <a:avLst>
              <a:gd name="adj" fmla="val 13333"/>
            </a:avLst>
          </a:prstGeom>
          <a:solidFill>
            <a:srgbClr val="EEF6F1"/>
          </a:solidFill>
          <a:ln w="19050">
            <a:solidFill>
              <a:srgbClr val="106B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011680"/>
            <a:ext cx="9890074" cy="822960"/>
          </a:xfrm>
          <a:prstGeom prst="roundRect">
            <a:avLst>
              <a:gd name="adj" fmla="val 13333"/>
            </a:avLst>
          </a:prstGeom>
          <a:solidFill>
            <a:srgbClr val="106B4B"/>
          </a:solidFill>
          <a:ln w="19050">
            <a:solidFill>
              <a:srgbClr val="106B4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本月總需求 10,700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926080"/>
            <a:ext cx="4782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合計額度 12,000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26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所有人都夠用，還剩 1,300，不必另提專案報告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3538728" cy="2286000"/>
          </a:xfrm>
          <a:prstGeom prst="roundRect">
            <a:avLst>
              <a:gd name="adj" fmla="val 48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額度發揮最大效益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閒置的額度支援正在趕工的人，整體用量更貼近總額度。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25112" y="3749040"/>
            <a:ext cx="3538728" cy="2286000"/>
          </a:xfrm>
          <a:prstGeom prst="roundRect">
            <a:avLst>
              <a:gd name="adj" fmla="val 48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99432" y="4023360"/>
            <a:ext cx="502920" cy="50292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99432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科長有效管控用量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99432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一個畫面看到每個帳號的使用率、剩餘額度與重置時間。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01584" y="3749040"/>
            <a:ext cx="3538728" cy="2286000"/>
          </a:xfrm>
          <a:prstGeom prst="roundRect">
            <a:avLst>
              <a:gd name="adj" fmla="val 4800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75904" y="4023360"/>
            <a:ext cx="502920" cy="50292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調度有依據、有紀錄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375904" y="51206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誰在什麼期間用哪個帳號都有授權與紀錄，透明可追溯。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運作方式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四個步驟：從放進池子到用完釋放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487168" cy="2743200"/>
          </a:xfrm>
          <a:prstGeom prst="roundRect">
            <a:avLst>
              <a:gd name="adj" fmla="val 4412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帳號納入池子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每個人的 ChatGPT 帳號集中管理，帳號原主人稱為「擁有者」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08960" y="2926080"/>
            <a:ext cx="237744" cy="365760"/>
          </a:xfrm>
          <a:prstGeom prst="rightArrow">
            <a:avLst/>
          </a:prstGeom>
          <a:solidFill>
            <a:srgbClr val="B2D6C3"/>
          </a:solidFill>
          <a:ln w="12700">
            <a:solidFill>
              <a:srgbClr val="B2D6C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19856" y="1737360"/>
            <a:ext cx="2487168" cy="2743200"/>
          </a:xfrm>
          <a:prstGeom prst="roundRect">
            <a:avLst>
              <a:gd name="adj" fmla="val 4412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94176" y="2011680"/>
            <a:ext cx="548640" cy="54864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94176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94176" y="274320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科長開授權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694176" y="320040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指定「哪個人 × 哪個帳號 × 什麼期間」，到期自動失效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0176" y="2926080"/>
            <a:ext cx="237744" cy="365760"/>
          </a:xfrm>
          <a:prstGeom prst="rightArrow">
            <a:avLst/>
          </a:prstGeom>
          <a:solidFill>
            <a:srgbClr val="B2D6C3"/>
          </a:solidFill>
          <a:ln w="12700">
            <a:solidFill>
              <a:srgbClr val="B2D6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91072" y="1737360"/>
            <a:ext cx="2487168" cy="2743200"/>
          </a:xfrm>
          <a:prstGeom prst="roundRect">
            <a:avLst>
              <a:gd name="adj" fmla="val 4412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65392" y="2011680"/>
            <a:ext cx="548640" cy="54864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65392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65392" y="274320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Launcher 取用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320040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你從 Launcher 啟動 Codex，系統建立使用紀錄並定期回報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851392" y="2926080"/>
            <a:ext cx="237744" cy="365760"/>
          </a:xfrm>
          <a:prstGeom prst="rightArrow">
            <a:avLst/>
          </a:prstGeom>
          <a:solidFill>
            <a:srgbClr val="B2D6C3"/>
          </a:solidFill>
          <a:ln w="12700">
            <a:solidFill>
              <a:srgbClr val="B2D6C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2288" y="1737360"/>
            <a:ext cx="2487168" cy="2743200"/>
          </a:xfrm>
          <a:prstGeom prst="roundRect">
            <a:avLst>
              <a:gd name="adj" fmla="val 4412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36608" y="2011680"/>
            <a:ext cx="548640" cy="54864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436608" y="274320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用完釋放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36608" y="320040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正常關閉 Launcher 即釋放，帳號可再調度給其他人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84632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5166360"/>
            <a:ext cx="548640" cy="54864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0292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6B4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科長的管理台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54132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隨時看到每個帳號的使用率、剩餘額度、距額度重置時間與每日用量趨勢，快用完前就能先調度。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運作方式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會看到的名詞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6062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名詞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6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英文（畫面／錯誤訊息可能出現）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6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意思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6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ChatGPT 帳號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放進池子的 Codex 帳號，各有自己的額度與重置週期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擁有者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Owner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帳號原本的主人；帳號需要重新登入時由擁有者處理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人員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Person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登記在系統內的使用者，以電腦 IP 辨識身分，有生效與失效日期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授權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Grant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科長開給你的使用權：人 × 帳號 × 期間，可隨時撤銷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使用紀錄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Lease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每次從 Launcher 開始使用時建立，結束時釋放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Launcher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66717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Launcher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裝在你電腦上的啟動程式，負責取用、定期回報與釋放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00" marR="7315200" marT="0" marB="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開始使用的五個步驟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0100" y="2194560"/>
            <a:ext cx="0" cy="365760"/>
          </a:xfrm>
          <a:prstGeom prst="line">
            <a:avLst/>
          </a:prstGeom>
          <a:noFill/>
          <a:ln w="25400">
            <a:solidFill>
              <a:srgbClr val="B2D6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6276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確認已登記為人員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9751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提供姓名與電腦 IP 給科長登記；IP 變動要通知更新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0100" y="3108960"/>
            <a:ext cx="0" cy="365760"/>
          </a:xfrm>
          <a:prstGeom prst="line">
            <a:avLst/>
          </a:prstGeom>
          <a:noFill/>
          <a:ln w="25400">
            <a:solidFill>
              <a:srgbClr val="B2D6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420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安裝 Launcher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895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依內部提供的方式安裝（Windows）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0100" y="4023360"/>
            <a:ext cx="0" cy="365760"/>
          </a:xfrm>
          <a:prstGeom prst="line">
            <a:avLst/>
          </a:prstGeom>
          <a:noFill/>
          <a:ln w="25400">
            <a:solidFill>
              <a:srgbClr val="B2D6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0160" y="34564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取得授權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科長依你的工作量開授權，指定可用帳號與期間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00100" y="4937760"/>
            <a:ext cx="0" cy="365760"/>
          </a:xfrm>
          <a:prstGeom prst="line">
            <a:avLst/>
          </a:prstGeom>
          <a:noFill/>
          <a:ln w="25400">
            <a:solidFill>
              <a:srgbClr val="B2D6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80160" y="43708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Launcher 開始使用 Codex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47183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啟動後系統建立使用紀錄，照常使用 Codex 即可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28523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用完正常關閉 Launcher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56327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立即釋放使用權；直接關機要等逾時才會釋放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40880" y="1645920"/>
            <a:ext cx="4599432" cy="3291840"/>
          </a:xfrm>
          <a:prstGeom prst="roundRect">
            <a:avLst>
              <a:gd name="adj" fmla="val 3333"/>
            </a:avLst>
          </a:prstGeom>
          <a:solidFill>
            <a:srgbClr val="F3F6F4"/>
          </a:solidFill>
          <a:ln w="15875">
            <a:solidFill>
              <a:srgbClr val="DDE5E0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040880" y="1645920"/>
            <a:ext cx="45994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此處放 Launcher 畫面截圖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040880" y="5166360"/>
            <a:ext cx="4599432" cy="457200"/>
          </a:xfrm>
          <a:prstGeom prst="roundRect">
            <a:avLst>
              <a:gd name="adj" fmla="val 16000"/>
            </a:avLst>
          </a:prstGeom>
          <a:solidFill>
            <a:srgbClr val="F8F0DA"/>
          </a:solidFill>
          <a:ln w="12700">
            <a:solidFill>
              <a:srgbClr val="C39A3A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7178040" y="516636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待補：Launcher 下載位置與安裝步驟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40880" y="5760720"/>
            <a:ext cx="4599432" cy="457200"/>
          </a:xfrm>
          <a:prstGeom prst="roundRect">
            <a:avLst>
              <a:gd name="adj" fmla="val 16000"/>
            </a:avLst>
          </a:prstGeom>
          <a:solidFill>
            <a:srgbClr val="F8F0DA"/>
          </a:solidFill>
          <a:ln w="12700">
            <a:solidFill>
              <a:srgbClr val="C39A3A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7178040" y="576072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待補：IP 登記窗口（寄給誰、需要哪些資料）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使用方式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額度快不夠時，怎麼辦？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管理台以使用率分三個水位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545836" cy="640080"/>
          </a:xfrm>
          <a:prstGeom prst="rect">
            <a:avLst/>
          </a:prstGeom>
          <a:solidFill>
            <a:srgbClr val="178A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011680"/>
            <a:ext cx="5271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&lt; 50%  充裕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2011680"/>
            <a:ext cx="3327502" cy="640080"/>
          </a:xfrm>
          <a:prstGeom prst="rect">
            <a:avLst/>
          </a:prstGeom>
          <a:solidFill>
            <a:srgbClr val="D4890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77356" y="2011680"/>
            <a:ext cx="305318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50–80%  偏高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421978" y="2011680"/>
            <a:ext cx="2218334" cy="640080"/>
          </a:xfrm>
          <a:prstGeom prst="rect">
            <a:avLst/>
          </a:prstGeom>
          <a:solidFill>
            <a:srgbClr val="C73E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4858" y="2011680"/>
            <a:ext cx="19440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&gt; 80%  吃緊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37276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477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80%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725912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3538728" cy="2514600"/>
          </a:xfrm>
          <a:prstGeom prst="roundRect">
            <a:avLst>
              <a:gd name="adj" fmla="val 4364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D4890F"/>
          </a:solidFill>
          <a:ln w="12700">
            <a:solidFill>
              <a:srgbClr val="D4890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進入「偏高」就先反映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不要等任務做到一半才停擺，提早跟科長說預估用量。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25112" y="3429000"/>
            <a:ext cx="3538728" cy="2514600"/>
          </a:xfrm>
          <a:prstGeom prst="roundRect">
            <a:avLst>
              <a:gd name="adj" fmla="val 4364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9432" y="3703320"/>
            <a:ext cx="502920" cy="502920"/>
          </a:xfrm>
          <a:prstGeom prst="ellipse">
            <a:avLst/>
          </a:prstGeom>
          <a:solidFill>
            <a:srgbClr val="106B4B"/>
          </a:solidFill>
          <a:ln w="12700">
            <a:solidFill>
              <a:srgbClr val="106B4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99432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9432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科長從池內調度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599432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找出使用率較低的帳號，開授權給你，通常當天就能接續使用。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101584" y="3429000"/>
            <a:ext cx="3538728" cy="2514600"/>
          </a:xfrm>
          <a:prstGeom prst="roundRect">
            <a:avLst>
              <a:gd name="adj" fmla="val 4364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75904" y="3703320"/>
            <a:ext cx="502920" cy="502920"/>
          </a:xfrm>
          <a:prstGeom prst="ellipse">
            <a:avLst/>
          </a:prstGeom>
          <a:solidFill>
            <a:srgbClr val="C73E3E"/>
          </a:solidFill>
          <a:ln w="12700">
            <a:solidFill>
              <a:srgbClr val="C73E3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75904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389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整池都不夠，才提專案報告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4846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池內額度確實不足時，再依規定另提專案報告。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常見問題（1／2）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47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我的帳號放進池子，別人會用到我的額度嗎？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87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會，但只在科長開出的授權期間內，且每次使用都有紀錄。你用不完的額度支援別人，你需要時也能從池子得到支援。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947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1,000／4,000 還需要提專案報告嗎？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587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優先由池內閒置額度調度；只有池內額度確實不足時，才需要依規定另提專案報告。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33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出現「目前來源 IP 沒有有效的人員使用權」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73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系統認不出你的 IP：換了電腦或網路、人員資料過期或停用、或尚未登記。請把目前 IP 與追蹤編號提供給科長。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977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251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233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用到一半 Codex 被停止了？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873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可能是授權到期或撤銷、帳號額度用完，或被管理者強制釋放（必須填寫原因）。請向科長確認後改用其他帳號。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常見問題（2／2）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47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帳號顯示「需重新授權」是什麼意思？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87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該 ChatGPT 帳號的登入狀態過期，暫時無法使用，需由帳號的擁有者重新登入。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947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忘了關 Launcher 就關機，會怎樣？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587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一段時間沒收到回報，使用紀錄會標示「逾時未回報」，科長可視情況強制釋放。不影響帳號，但會暫時佔住調度空間。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33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管理台的 tokens 數跟額度對不起來？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73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正常。Input／Output 計價不同，Cache 命中也會影響扣抵；額度一律以帳號的額度摘要為準，tokens 僅供參考趨勢。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977640"/>
            <a:ext cx="5422392" cy="2057400"/>
          </a:xfrm>
          <a:prstGeom prst="roundRect">
            <a:avLst>
              <a:gd name="adj" fmla="val 5333"/>
            </a:avLst>
          </a:prstGeom>
          <a:solidFill>
            <a:srgbClr val="F3F6F4"/>
          </a:solidFill>
          <a:ln w="12700">
            <a:solidFill>
              <a:srgbClr val="F3F6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251960"/>
            <a:ext cx="457200" cy="45720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23367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看到錯誤訊息，要提供什麼給科長？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873752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D48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錯誤訊息會附一串「追蹤編號（Correlation ID）」，連同發生時間一起提供，就能直接查到那次狀況。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39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風險控管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共用帳號的風險，如何被降低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00800"/>
            <a:ext cx="48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17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48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擔心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6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控管方式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6B4B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不相關的人拿來用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只有登記過的人員能使用，以來源 IP 辨識，未登記直接拒絕；人員有生效／失效日期，離職或調動可隨時停用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權限給太多、給太久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授權綁定「人 × 帳號 × 期間」，只能用指定帳號；到期自動失效，也能立即撤銷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用了卻不知道誰在用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每次使用都有紀錄（使用人員、裝置、起訖時間）；Launcher 定期回報，沒回報即標示「逾時未回報」；強制釋放必須填寫原因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管理者自己亂改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只有管理者能進管理台；所有管理操作寫入操作紀錄（誰、何時、對象、結果、原因），被拒絕的操作也記錄，並附追蹤編號可逐筆追溯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額度突然用光、工作停擺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以 50%／80% 水位標示每個帳號，搭配每日用量趨勢與重置時間，提早把工作量移到充裕的帳號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3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2194560"/>
            <a:ext cx="2926080" cy="2926080"/>
          </a:xfrm>
          <a:prstGeom prst="ellipse">
            <a:avLst/>
          </a:prstGeom>
          <a:solidFill>
            <a:srgbClr val="0C563C"/>
          </a:solidFill>
          <a:ln w="12700">
            <a:solidFill>
              <a:srgbClr val="0C56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017520"/>
            <a:ext cx="1280160" cy="1280160"/>
          </a:xfrm>
          <a:prstGeom prst="ellipse">
            <a:avLst/>
          </a:prstGeom>
          <a:solidFill>
            <a:srgbClr val="C39A3A"/>
          </a:solidFill>
          <a:ln w="12700">
            <a:solidFill>
              <a:srgbClr val="C39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103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有問題，隨時提出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B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額度快不夠、IP 異動、帳號需要重新登入，都請直接找科長。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4206240"/>
            <a:ext cx="5943600" cy="548640"/>
          </a:xfrm>
          <a:prstGeom prst="roundRect">
            <a:avLst>
              <a:gd name="adj" fmla="val 13333"/>
            </a:avLst>
          </a:prstGeom>
          <a:solidFill>
            <a:srgbClr val="0C563C"/>
          </a:solidFill>
          <a:ln w="12700">
            <a:solidFill>
              <a:srgbClr val="C39A3A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14400" y="42062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CF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待補：聯絡窗口（姓名／分機／信箱）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Codex 共用額度池</dc:title>
  <dc:subject>PptxGenJS Presentation</dc:subject>
  <dc:creator>PptxGenJS</dc:creator>
  <cp:lastModifiedBy>PptxGenJS</cp:lastModifiedBy>
  <cp:revision>1</cp:revision>
  <dcterms:created xsi:type="dcterms:W3CDTF">2026-09-23T07:46:36Z</dcterms:created>
  <dcterms:modified xsi:type="dcterms:W3CDTF">2026-09-23T07:46:36Z</dcterms:modified>
</cp:coreProperties>
</file>