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開發流程 AI 化提案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驅動開發，人類把關品質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規格驅動 × 測試先行 × 風險把關 —— 一套讓 AI 產出「可被驗證」的信任機制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34440" y="3794760"/>
            <a:ext cx="868680" cy="86868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6" name="Image 0" descr="/sessions/bold-tender-feynman/mnt/outputs/icons/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297" y="402061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800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03120" y="4229100"/>
            <a:ext cx="1371600" cy="0"/>
          </a:xfrm>
          <a:prstGeom prst="line">
            <a:avLst/>
          </a:prstGeom>
          <a:noFill/>
          <a:ln w="19050">
            <a:solidFill>
              <a:srgbClr val="4A569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3794760"/>
            <a:ext cx="868680" cy="86868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0" name="Image 1" descr="/sessions/bold-tender-feynman/mnt/outputs/icons/mar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577" y="402061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71800" y="4800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43400" y="4229100"/>
            <a:ext cx="1371600" cy="0"/>
          </a:xfrm>
          <a:prstGeom prst="line">
            <a:avLst/>
          </a:prstGeom>
          <a:noFill/>
          <a:ln w="19050">
            <a:solidFill>
              <a:srgbClr val="4A569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15000" y="3794760"/>
            <a:ext cx="868680" cy="86868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4" name="Image 2" descr="/sessions/bold-tender-feynman/mnt/outputs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857" y="4020617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4800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開發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583680" y="4229100"/>
            <a:ext cx="1371600" cy="0"/>
          </a:xfrm>
          <a:prstGeom prst="line">
            <a:avLst/>
          </a:prstGeom>
          <a:noFill/>
          <a:ln w="19050">
            <a:solidFill>
              <a:srgbClr val="4A569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955280" y="3794760"/>
            <a:ext cx="868680" cy="86868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8" name="Image 3" descr="/sessions/bold-tender-feynman/mnt/outputs/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137" y="4020617"/>
            <a:ext cx="416966" cy="4169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4800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自動驗測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823960" y="4229100"/>
            <a:ext cx="1371600" cy="0"/>
          </a:xfrm>
          <a:prstGeom prst="line">
            <a:avLst/>
          </a:prstGeom>
          <a:noFill/>
          <a:ln w="19050">
            <a:solidFill>
              <a:srgbClr val="4A569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195560" y="3794760"/>
            <a:ext cx="868680" cy="86868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22" name="Image 4" descr="/sessions/bold-tender-feynman/mnt/outputs/icons/gau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1417" y="4020617"/>
            <a:ext cx="416966" cy="41696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92640" y="4800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數據放行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提報人：Wayne ｜ 2026.08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現況與挑戰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導入的真正瓶頸，不在產出，在驗證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4892040"/>
          </a:xfrm>
          <a:prstGeom prst="roundRect">
            <a:avLst>
              <a:gd name="adj" fmla="val 1495"/>
            </a:avLst>
          </a:prstGeom>
          <a:solidFill>
            <a:srgbClr val="EEF3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現行流程：全人工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7" name="Image 0" descr="/sessions/bold-tender-feynman/mnt/outputs/icons/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15341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66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SA／PM　</a:t>
            </a:r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人工彙整並撰寫需求文件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97864" y="2596896"/>
            <a:ext cx="0" cy="256032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914400" y="2889504"/>
            <a:ext cx="566928" cy="56692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1" name="Image 1" descr="/sessions/bold-tender-feynman/mnt/outputs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" y="3031236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944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　</a:t>
            </a:r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人工開發、自行測試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197864" y="3474720"/>
            <a:ext cx="0" cy="256032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914400" y="3767328"/>
            <a:ext cx="566928" cy="56692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5" name="Image 2" descr="/sessions/bold-tender-feynman/mnt/outputs/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3909060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822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　</a:t>
            </a:r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人工設計案例、手動驗測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197864" y="4352544"/>
            <a:ext cx="0" cy="256032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914400" y="4645152"/>
            <a:ext cx="566928" cy="56692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9" name="Image 3" descr="/sessions/bold-tender-feynman/mnt/outputs/icons/usert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" y="478688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47000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　</a:t>
            </a:r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UAT 驗收測試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68680" y="5623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痛點：文件轉手易失真 ｜ 品質靠個人經驗 ｜ 放行無數據佐證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035040" y="137160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035040" y="14630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68%</a:t>
            </a:r>
            <a:endParaRPr lang="en-US" sz="4200" dirty="0"/>
          </a:p>
        </p:txBody>
      </p:sp>
      <p:sp>
        <p:nvSpPr>
          <p:cNvPr id="24" name="Text 18"/>
          <p:cNvSpPr/>
          <p:nvPr/>
        </p:nvSpPr>
        <p:spPr>
          <a:xfrm>
            <a:off x="6263640" y="2286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開發者認為 AI 產出的程式碼「快、但有瑕疵」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8915400" y="137160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915400" y="14630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36%</a:t>
            </a:r>
            <a:endParaRPr lang="en-US" sz="4200" dirty="0"/>
          </a:p>
        </p:txBody>
      </p:sp>
      <p:sp>
        <p:nvSpPr>
          <p:cNvPr id="27" name="Text 21"/>
          <p:cNvSpPr/>
          <p:nvPr/>
        </p:nvSpPr>
        <p:spPr>
          <a:xfrm>
            <a:off x="9144000" y="2286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團隊使用 AI 產碼，卻完全跳過品質驗證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035040" y="3337560"/>
            <a:ext cx="5577840" cy="292608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0" y="3703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問題不在「該不該用 AI」，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而在「如何驗證 AI 的產出」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6400800" y="49834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團隊需要的不是「對 AI 的信心」，而是一套讓每個 AI 產出都可被驗證、可被追溯的信任機制——讓放行決策建立在證據上。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566928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2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資料來源：The Productivity-Reliability Paradox: Specification-Driven Governance for AI-Augmented Software Development（arXiv:2605.01160）　https://arxiv.org/pdf/2605.01160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方法論總覽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三大支柱，一條人類把關線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39312" cy="3703320"/>
          </a:xfrm>
          <a:prstGeom prst="roundRect">
            <a:avLst>
              <a:gd name="adj" fmla="val 2010"/>
            </a:avLst>
          </a:prstGeom>
          <a:solidFill>
            <a:srgbClr val="EEF3FB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691640"/>
            <a:ext cx="658368" cy="65836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6" name="Image 0" descr="/sessions/bold-tender-feynman/mnt/outputs/icons/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562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規格驅動開發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SDD · Spec-Driven Development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需求轉為 MD 規格，成為唯一事實來源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依規格開發，人只需審好規格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Microsoft／GitHub／AWS 現行主流做法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0832" y="1371600"/>
            <a:ext cx="3639312" cy="3703320"/>
          </a:xfrm>
          <a:prstGeom prst="roundRect">
            <a:avLst>
              <a:gd name="adj" fmla="val 2010"/>
            </a:avLst>
          </a:prstGeom>
          <a:solidFill>
            <a:srgbClr val="EEF3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169164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sessions/bold-tender-feynman/mnt/outputs/icons/v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8562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測試先行開發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513832" y="2130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AI-TDD · Test-Driven Development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690872" y="26974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先產生測試，再產生程式碼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測試不通過，程式碼不放行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IEEE ASE 2024 學術實證有效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93024" y="1371600"/>
            <a:ext cx="3639312" cy="3703320"/>
          </a:xfrm>
          <a:prstGeom prst="roundRect">
            <a:avLst>
              <a:gd name="adj" fmla="val 2010"/>
            </a:avLst>
          </a:prstGeom>
          <a:solidFill>
            <a:srgbClr val="EEF3FB"/>
          </a:solidFill>
          <a:ln/>
        </p:spPr>
      </p:sp>
      <p:sp>
        <p:nvSpPr>
          <p:cNvPr id="17" name="Shape 13"/>
          <p:cNvSpPr/>
          <p:nvPr/>
        </p:nvSpPr>
        <p:spPr>
          <a:xfrm>
            <a:off x="8485632" y="169164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/sessions/bold-tender-feynman/mnt/outputs/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185623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36024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風險基準測試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336024" y="2130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RBT · Risk-Based Testing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513064" y="26974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測試依風險高低排定優先序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需求與測試雙向追溯（RTM）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ISTQB 國際標準測試方法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257800"/>
            <a:ext cx="11082528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Human-in-the-Loop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人類守住三個把關點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480560" y="5577840"/>
            <a:ext cx="310896" cy="310896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25" name="Text 20"/>
          <p:cNvSpPr/>
          <p:nvPr/>
        </p:nvSpPr>
        <p:spPr>
          <a:xfrm>
            <a:off x="4919472" y="5559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規格審核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858000" y="5577840"/>
            <a:ext cx="310896" cy="310896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27" name="Text 22"/>
          <p:cNvSpPr/>
          <p:nvPr/>
        </p:nvSpPr>
        <p:spPr>
          <a:xfrm>
            <a:off x="7296912" y="5559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測試角度審核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9235440" y="5577840"/>
            <a:ext cx="310896" cy="310896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29" name="Text 24"/>
          <p:cNvSpPr/>
          <p:nvPr/>
        </p:nvSpPr>
        <p:spPr>
          <a:xfrm>
            <a:off x="9674352" y="5559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放行決策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66928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2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參考：Microsoft Developer Blog《Spec-Driven Development》｜IEEE ASE 2024《Test-Driven Development and LLM-based Code Generation》｜ISTQB Advanced Test Management（Risk-Based Testing）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未來流程藍圖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執行每一步，人類把關三個點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975104" cy="1024128"/>
          </a:xfrm>
          <a:prstGeom prst="roundRect">
            <a:avLst>
              <a:gd name="adj" fmla="val 53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77393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需求文件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SA／PM 產出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55748" y="2002536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8" name="Shape 6"/>
          <p:cNvSpPr/>
          <p:nvPr/>
        </p:nvSpPr>
        <p:spPr>
          <a:xfrm>
            <a:off x="2843784" y="1645920"/>
            <a:ext cx="1975104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5224" y="177393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MD 規格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16936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由需求輸出為規格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32604" y="2002536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12" name="Shape 10"/>
          <p:cNvSpPr/>
          <p:nvPr/>
        </p:nvSpPr>
        <p:spPr>
          <a:xfrm>
            <a:off x="4672584" y="1517904"/>
            <a:ext cx="274320" cy="274320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1645920"/>
            <a:ext cx="1975104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77393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AI 產單元測試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93792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依規格、先於程式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09460" y="2002536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397496" y="1645920"/>
            <a:ext cx="1975104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88936" y="177393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AI 產程式碼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70648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以通過測試為目標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86316" y="2002536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21" name="Shape 19"/>
          <p:cNvSpPr/>
          <p:nvPr/>
        </p:nvSpPr>
        <p:spPr>
          <a:xfrm>
            <a:off x="9674352" y="1645920"/>
            <a:ext cx="1975104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5792" y="177393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自動測試迴圈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47504" y="2176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未過 → AI 修正重試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3749040"/>
            <a:ext cx="1975104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87705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展開測試條件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由規格展開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5748" y="4105656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28" name="Shape 26"/>
          <p:cNvSpPr/>
          <p:nvPr/>
        </p:nvSpPr>
        <p:spPr>
          <a:xfrm>
            <a:off x="2395728" y="3621024"/>
            <a:ext cx="274320" cy="274320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29" name="Shape 27"/>
          <p:cNvSpPr/>
          <p:nvPr/>
        </p:nvSpPr>
        <p:spPr>
          <a:xfrm>
            <a:off x="2843784" y="3749040"/>
            <a:ext cx="1975104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35224" y="387705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 案例＋腳本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916936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 主導產生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32604" y="4105656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33" name="Shape 31"/>
          <p:cNvSpPr/>
          <p:nvPr/>
        </p:nvSpPr>
        <p:spPr>
          <a:xfrm>
            <a:off x="5120640" y="3749040"/>
            <a:ext cx="1975104" cy="1024128"/>
          </a:xfrm>
          <a:prstGeom prst="roundRect">
            <a:avLst>
              <a:gd name="adj" fmla="val 5357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87705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⑧ 自動執行驗測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93792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自建／第三方工具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09460" y="4105656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37" name="Shape 35"/>
          <p:cNvSpPr/>
          <p:nvPr/>
        </p:nvSpPr>
        <p:spPr>
          <a:xfrm>
            <a:off x="7397496" y="3749040"/>
            <a:ext cx="1975104" cy="1024128"/>
          </a:xfrm>
          <a:prstGeom prst="roundRect">
            <a:avLst>
              <a:gd name="adj" fmla="val 5357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7488936" y="387705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⑨ 儀表板檢視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70648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覆蓋率、通過率、風險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386316" y="4105656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41" name="Shape 39"/>
          <p:cNvSpPr/>
          <p:nvPr/>
        </p:nvSpPr>
        <p:spPr>
          <a:xfrm>
            <a:off x="9226296" y="3621024"/>
            <a:ext cx="274320" cy="274320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42" name="Shape 40"/>
          <p:cNvSpPr/>
          <p:nvPr/>
        </p:nvSpPr>
        <p:spPr>
          <a:xfrm>
            <a:off x="9674352" y="3749040"/>
            <a:ext cx="1975104" cy="1024128"/>
          </a:xfrm>
          <a:prstGeom prst="roundRect">
            <a:avLst>
              <a:gd name="adj" fmla="val 5357"/>
            </a:avLst>
          </a:prstGeom>
          <a:solidFill>
            <a:srgbClr val="2E9E5B"/>
          </a:solidFill>
          <a:ln/>
        </p:spPr>
      </p:sp>
      <p:sp>
        <p:nvSpPr>
          <p:cNvPr id="43" name="Text 41"/>
          <p:cNvSpPr/>
          <p:nvPr/>
        </p:nvSpPr>
        <p:spPr>
          <a:xfrm>
            <a:off x="9765792" y="387705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⑩ 上線 UAT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747504" y="4279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交付客戶測試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661904" y="2670048"/>
            <a:ext cx="0" cy="530352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54480" y="3200400"/>
            <a:ext cx="9107424" cy="0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54480" y="3200400"/>
            <a:ext cx="0" cy="530352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1783080" y="2889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單元測試全數通過後，進入整合驗測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66928" y="5047488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2416" y="50109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自動執行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606040" y="5047488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52" name="Text 50"/>
          <p:cNvSpPr/>
          <p:nvPr/>
        </p:nvSpPr>
        <p:spPr>
          <a:xfrm>
            <a:off x="3081528" y="50109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人類參與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389120" y="5029200"/>
            <a:ext cx="274320" cy="274320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54" name="Text 52"/>
          <p:cNvSpPr/>
          <p:nvPr/>
        </p:nvSpPr>
        <p:spPr>
          <a:xfrm>
            <a:off x="4773168" y="50109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人類把關點（規格審核／測試角度審核／放行決策）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921240" y="5047488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2E9E5B"/>
          </a:solidFill>
          <a:ln/>
        </p:spPr>
      </p:sp>
      <p:sp>
        <p:nvSpPr>
          <p:cNvPr id="56" name="Text 54"/>
          <p:cNvSpPr/>
          <p:nvPr/>
        </p:nvSpPr>
        <p:spPr>
          <a:xfrm>
            <a:off x="10396728" y="50109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66928" y="54864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/>
        </p:spPr>
      </p:sp>
      <p:sp>
        <p:nvSpPr>
          <p:cNvPr id="58" name="Text 56"/>
          <p:cNvSpPr/>
          <p:nvPr/>
        </p:nvSpPr>
        <p:spPr>
          <a:xfrm>
            <a:off x="914400" y="5486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人力投入從「執行」轉為「審核」：每一步 AI 產出都有明確的驗證標準與紀錄，全程可追溯。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支柱一｜規格驅動開發（SDD）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規格是唯一事實來源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產物如何流動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64792"/>
            <a:ext cx="512064" cy="512064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7" name="Image 0" descr="/sessions/bold-tender-feynman/mnt/outputs/icons/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928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19072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需求文件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SA／PM 依既有習慣產出，工作方式不變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69264" y="2414016"/>
            <a:ext cx="0" cy="219456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8640" y="2615184"/>
            <a:ext cx="557784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2734056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sessions/bold-tender-feynman/mnt/outputs/icons/mar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6207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68833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MD 結構化規格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由需求輸出為結構化規格，AI 可精準讀取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69264" y="3383280"/>
            <a:ext cx="0" cy="219456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48640" y="3584448"/>
            <a:ext cx="557784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370332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sessions/bold-tender-feynman/mnt/outputs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3133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65760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程式、測試、案例同源展開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三種產物全部由同一份規格產生，不再各寫各的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43484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4617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EARS 驗收條件格式（範例）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68680" y="4983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當〈使用者連續輸錯密碼 3 次〉，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系統應〈鎖定帳戶 15 分鐘並通知使用者〉。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68680" y="5806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條件明確：AI 不需猜測，人人可驗證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537960" y="12984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角色如何受益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537960" y="16916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3" descr="/sessions/bold-tender-feynman/mnt/outputs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1834286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9480" y="16459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歧義提早消除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需求寫清楚才能開工，返工大幅減少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537960" y="2606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4" descr="/sessions/bold-tender-feynman/mnt/outputs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606" y="2748686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69480" y="25603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SA、開發、QA 同一份來源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三個角色讀同一份規格，不再各自解讀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537960" y="3520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sessions/bold-tender-feynman/mnt/outputs/icons/syn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606" y="366308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34747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版本可追溯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規格進版本控管，每次變更都有紀錄可查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6537960" y="475488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EEF3FB"/>
          </a:solidFill>
          <a:ln/>
        </p:spPr>
      </p:sp>
      <p:sp>
        <p:nvSpPr>
          <p:cNvPr id="34" name="Text 26"/>
          <p:cNvSpPr/>
          <p:nvPr/>
        </p:nvSpPr>
        <p:spPr>
          <a:xfrm>
            <a:off x="6858000" y="49194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業界同路線工具（2025–26 主流）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858000" y="5321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Spec Kit ｜ AWS Kiro ｜ Claude Code ｜ OpenSpec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858000" y="57790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各大廠 2026 均已推出規格驅動開發工具鏈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566928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2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參考：Microsoft for Developers《Spec-Driven Development: A Spec-First Approach to AI-Native Engineering》　https://developer.microsoft.com/blog/spec-driven-development-ai-native-engineering/</a:t>
            </a:r>
            <a:endParaRPr lang="en-US" sz="750" dirty="0"/>
          </a:p>
        </p:txBody>
      </p:sp>
      <p:sp>
        <p:nvSpPr>
          <p:cNvPr id="38" name="Text 30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支柱二｜AI-TDD 測試先行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先測試、後程式：測試不過，程式不出門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048256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6733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MD 規格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0352" y="20756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驗收條件的來源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901952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8" name="Shape 6"/>
          <p:cNvSpPr/>
          <p:nvPr/>
        </p:nvSpPr>
        <p:spPr>
          <a:xfrm>
            <a:off x="2798064" y="1554480"/>
            <a:ext cx="2048256" cy="1005840"/>
          </a:xfrm>
          <a:prstGeom prst="roundRect">
            <a:avLst>
              <a:gd name="adj" fmla="val 5455"/>
            </a:avLst>
          </a:prstGeom>
          <a:solidFill>
            <a:srgbClr val="FBEAE8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16733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AI 產生測試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71216" y="20756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程式還沒寫，必為紅燈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55464" y="1901952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12" name="Shape 10"/>
          <p:cNvSpPr/>
          <p:nvPr/>
        </p:nvSpPr>
        <p:spPr>
          <a:xfrm>
            <a:off x="5138928" y="1554480"/>
            <a:ext cx="2048256" cy="1005840"/>
          </a:xfrm>
          <a:prstGeom prst="roundRect">
            <a:avLst>
              <a:gd name="adj" fmla="val 5455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6733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AI 產生程式碼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12080" y="20756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以通過測試為唯一目標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96328" y="1901952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16" name="Shape 14"/>
          <p:cNvSpPr/>
          <p:nvPr/>
        </p:nvSpPr>
        <p:spPr>
          <a:xfrm>
            <a:off x="7479792" y="1554480"/>
            <a:ext cx="2048256" cy="1005840"/>
          </a:xfrm>
          <a:prstGeom prst="roundRect">
            <a:avLst>
              <a:gd name="adj" fmla="val 5455"/>
            </a:avLst>
          </a:prstGeom>
          <a:solidFill>
            <a:srgbClr val="E8F6EE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16733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9E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自動執行測試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52944" y="20756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 → 綠燈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537192" y="1901952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20" name="Shape 18"/>
          <p:cNvSpPr/>
          <p:nvPr/>
        </p:nvSpPr>
        <p:spPr>
          <a:xfrm>
            <a:off x="9820656" y="1554480"/>
            <a:ext cx="2048256" cy="1005840"/>
          </a:xfrm>
          <a:prstGeom prst="roundRect">
            <a:avLst>
              <a:gd name="adj" fmla="val 5455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3808" y="16733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重構與合併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893808" y="20756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品質閘門後合併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03920" y="2560320"/>
            <a:ext cx="0" cy="384048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2944368"/>
            <a:ext cx="2340864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2560320"/>
            <a:ext cx="0" cy="384048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26" name="Text 24"/>
          <p:cNvSpPr/>
          <p:nvPr/>
        </p:nvSpPr>
        <p:spPr>
          <a:xfrm>
            <a:off x="6300216" y="2980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未通過 → AI 依失敗訊息自動修正重試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56616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EEF3F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767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為什麼先寫測試？（學術實證）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8680" y="4261104"/>
            <a:ext cx="4892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測試先行＝把「驗收標準」寫進 AI 的任務裡，AI 不再自由發揮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IEEE ASE 2024 研究：先提供測試給 LLM，產碼正確率顯著提升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測試由規格展開，人審一次、之後回歸測試重複使用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3566160"/>
            <a:ext cx="5303520" cy="2697480"/>
          </a:xfrm>
          <a:prstGeom prst="roundRect">
            <a:avLst>
              <a:gd name="adj" fmla="val 2712"/>
            </a:avLst>
          </a:prstGeom>
          <a:solidFill>
            <a:srgbClr val="EEF3FB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3767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測試本身的品質，用「突變測試」把關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29400" y="4261104"/>
            <a:ext cx="4709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突變測試（Mutation Testing）：故意在程式植入小錯誤，檢驗測試抓不抓得到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抓不到＝測試太弱 → 要求 AI 補強，杜絕「假通過」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研究（MuTAP, 2024）：AI 產生的測試突變殺除率可達 93.6%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6928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2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參考：Test-Driven Development for Code Generation（arXiv:2402.13521）https://arxiv.org/abs/2402.13521　｜　Effective test generation using pre-trained LLMs and mutation testing, JSS 2024（MuTAP）https://doi.org/10.1016/j.jss.2024.112016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支柱三｜由規格展開驗測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測試條件 → 測試案例 → 自動化腳本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057400" y="141732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14884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MD 規格（PRD）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148840" y="1892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唯一事實來源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2304288"/>
            <a:ext cx="0" cy="292608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593592" y="2304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→ N 展開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08760" y="2624328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測試條件 Test Condition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00200" y="3099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高層次「該驗什麼」＋風險標記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58968" y="2898648"/>
            <a:ext cx="292608" cy="292608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3511296"/>
            <a:ext cx="0" cy="292608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593592" y="3511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→ N 展開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5840" y="3831336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227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 Test Case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43068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具體「怎麼驗」：步驟、資料、預期結果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4718304"/>
            <a:ext cx="0" cy="292608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593592" y="47183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→ N 展開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038344"/>
            <a:ext cx="5760720" cy="868680"/>
          </a:xfrm>
          <a:prstGeom prst="roundRect">
            <a:avLst>
              <a:gd name="adj" fmla="val 6316"/>
            </a:avLst>
          </a:prstGeom>
          <a:solidFill>
            <a:srgbClr val="2E3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297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自動化腳本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51383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 主導產生，自建／第三方工具執行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5943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◆＝人類審核「測試角度」是否正確、有無遺漏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141732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5727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測試條件範例（每條都帶風險標記）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0" y="19385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TC-05　超限轉帳應被拒絕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2331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風險：高　｜　優先序：P1　｜　對應需求：R-012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301752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31821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測試案例格式：Given–When–Then（BDD）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0" y="35661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Given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使用者已登入網銀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When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輸入超過每日限額的轉帳金額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Then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交易被拒絕並顯示限額提示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0" y="4526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人人可讀，也可直接轉為自動化腳本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37960" y="498348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DF3E3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5120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人類在這一層審什麼？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858000" y="54315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測試角度是否正確　｜　有無遺漏關鍵場景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風險等級與優先序是否合理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2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參考：ISTQB Glossary — Test Condition / Test Case　https://glossary.istqb.org/　｜　ISTQB Foundation Level Syllabus v4.0（Test Analysis &amp; Design）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追溯與風險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每個需求都有測試；每個風險都有人看過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需求追溯矩陣（RTM）：一條看得見的證據鏈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2024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0" y="192024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9202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R-012　轉帳每日限額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44168" y="2542032"/>
            <a:ext cx="0" cy="201168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" y="2743200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74320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測試條件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86000" y="274320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74320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TC-05　超限轉帳應被拒絕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344168" y="3364992"/>
            <a:ext cx="0" cy="201168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6928" y="3566160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5661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286000" y="356616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35661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CA-021～023（3 個案例）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344168" y="4187952"/>
            <a:ext cx="0" cy="201168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" y="4389120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2E3A7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3891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執行結果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86000" y="438912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43891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通過 ｜ 1 失敗（風險：高）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12080"/>
            <a:ext cx="5559552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RTM 回答放行前的三個問題：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5715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該測的都測了嗎？ ｜ 證據在哪裡？ ｜ 缺口剩哪些？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風險基準：測試資源投在刀口上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040880" y="1920240"/>
            <a:ext cx="2194560" cy="1463040"/>
          </a:xfrm>
          <a:prstGeom prst="roundRect">
            <a:avLst>
              <a:gd name="adj" fmla="val 3750"/>
            </a:avLst>
          </a:prstGeom>
          <a:solidFill>
            <a:srgbClr val="FDF3E3"/>
          </a:solidFill>
          <a:ln/>
        </p:spPr>
      </p:sp>
      <p:sp>
        <p:nvSpPr>
          <p:cNvPr id="29" name="Text 27"/>
          <p:cNvSpPr/>
          <p:nvPr/>
        </p:nvSpPr>
        <p:spPr>
          <a:xfrm>
            <a:off x="7150608" y="21945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高影響 × 低可能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50608" y="261518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自動驗測＋人工抽審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326880" y="1920240"/>
            <a:ext cx="2194560" cy="1463040"/>
          </a:xfrm>
          <a:prstGeom prst="roundRect">
            <a:avLst>
              <a:gd name="adj" fmla="val 3750"/>
            </a:avLst>
          </a:prstGeom>
          <a:solidFill>
            <a:srgbClr val="FBEAE8"/>
          </a:solidFill>
          <a:ln/>
        </p:spPr>
      </p:sp>
      <p:sp>
        <p:nvSpPr>
          <p:cNvPr id="32" name="Text 30"/>
          <p:cNvSpPr/>
          <p:nvPr/>
        </p:nvSpPr>
        <p:spPr>
          <a:xfrm>
            <a:off x="9436608" y="21945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高影響 × 高可能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436608" y="261518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優先驗測＋人工必審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040880" y="3474720"/>
            <a:ext cx="2194560" cy="1463040"/>
          </a:xfrm>
          <a:prstGeom prst="roundRect">
            <a:avLst>
              <a:gd name="adj" fmla="val 3750"/>
            </a:avLst>
          </a:prstGeom>
          <a:solidFill>
            <a:srgbClr val="E8F6EE"/>
          </a:solidFill>
          <a:ln/>
        </p:spPr>
      </p:sp>
      <p:sp>
        <p:nvSpPr>
          <p:cNvPr id="35" name="Text 33"/>
          <p:cNvSpPr/>
          <p:nvPr/>
        </p:nvSpPr>
        <p:spPr>
          <a:xfrm>
            <a:off x="7150608" y="37490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9E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低影響 × 低可能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150608" y="416966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自動驗測、自動放行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326880" y="3474720"/>
            <a:ext cx="2194560" cy="1463040"/>
          </a:xfrm>
          <a:prstGeom prst="roundRect">
            <a:avLst>
              <a:gd name="adj" fmla="val 3750"/>
            </a:avLst>
          </a:prstGeom>
          <a:solidFill>
            <a:srgbClr val="FDF3E3"/>
          </a:solidFill>
          <a:ln/>
        </p:spPr>
      </p:sp>
      <p:sp>
        <p:nvSpPr>
          <p:cNvPr id="38" name="Text 36"/>
          <p:cNvSpPr/>
          <p:nvPr/>
        </p:nvSpPr>
        <p:spPr>
          <a:xfrm>
            <a:off x="9436608" y="37490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低影響 × 高可能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436608" y="416966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自動驗測＋人工抽審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903720" y="4983480"/>
            <a:ext cx="0" cy="-306324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903720" y="4983480"/>
            <a:ext cx="4754880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 rot="16200000">
            <a:off x="6583680" y="2286000"/>
            <a:ext cx="274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影響程度 →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50392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發生可能性 →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83680" y="5760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指標「風險覆蓋率」＝ 高／中風險項目中，已有測試且已執行的比例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2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參考：ISTQB Glossary — Traceability Matrix　https://istqb-glossary.page/traceability-matrix/　｜　TestRail《Requirements Traceability Matrix》https://www.testrail.com/blog/requirements-traceability-matrix/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品質閘門 Quality Gates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四道自動閘門，最後一道由人決定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700784" cy="2286000"/>
          </a:xfrm>
          <a:prstGeom prst="roundRect">
            <a:avLst>
              <a:gd name="adj" fmla="val 4301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828800"/>
            <a:ext cx="566928" cy="56692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6" name="Image 0" descr="/sessions/bold-tender-feynman/mnt/outputs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9705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靜態分析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0936" y="2962656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程式風格、複雜度、壞味道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76272" y="2606040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10" name="Shape 7"/>
          <p:cNvSpPr/>
          <p:nvPr/>
        </p:nvSpPr>
        <p:spPr>
          <a:xfrm>
            <a:off x="2423160" y="1600200"/>
            <a:ext cx="1700784" cy="2286000"/>
          </a:xfrm>
          <a:prstGeom prst="roundRect">
            <a:avLst>
              <a:gd name="adj" fmla="val 4301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90088" y="1828800"/>
            <a:ext cx="566928" cy="56692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2" name="Image 1" descr="/sessions/bold-tender-feynman/mnt/outputs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197053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96312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安全掃描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551176" y="2962656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弱點、相依套件、機敏資訊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096512" y="2606040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16" name="Shape 12"/>
          <p:cNvSpPr/>
          <p:nvPr/>
        </p:nvSpPr>
        <p:spPr>
          <a:xfrm>
            <a:off x="4343400" y="1600200"/>
            <a:ext cx="1700784" cy="2286000"/>
          </a:xfrm>
          <a:prstGeom prst="roundRect">
            <a:avLst>
              <a:gd name="adj" fmla="val 4301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10328" y="1828800"/>
            <a:ext cx="566928" cy="56692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8" name="Image 2" descr="/sessions/bold-tender-feynman/mnt/outputs/icons/vi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97053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16552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測試強度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471416" y="2962656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覆蓋率＋突變分數雙指標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016752" y="2606040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22" name="Shape 17"/>
          <p:cNvSpPr/>
          <p:nvPr/>
        </p:nvSpPr>
        <p:spPr>
          <a:xfrm>
            <a:off x="6263640" y="1600200"/>
            <a:ext cx="1700784" cy="2286000"/>
          </a:xfrm>
          <a:prstGeom prst="roundRect">
            <a:avLst>
              <a:gd name="adj" fmla="val 4301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30568" y="1828800"/>
            <a:ext cx="566928" cy="56692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24" name="Image 3" descr="/sessions/bold-tender-feynman/mnt/outputs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970532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36792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規格符合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391656" y="2962656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 MD 規格驗收條件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936992" y="2606040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28" name="Shape 22"/>
          <p:cNvSpPr/>
          <p:nvPr/>
        </p:nvSpPr>
        <p:spPr>
          <a:xfrm>
            <a:off x="8183880" y="1600200"/>
            <a:ext cx="1700784" cy="2286000"/>
          </a:xfrm>
          <a:prstGeom prst="roundRect">
            <a:avLst>
              <a:gd name="adj" fmla="val 4301"/>
            </a:avLst>
          </a:prstGeom>
          <a:solidFill>
            <a:srgbClr val="FDF3E3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750808" y="18288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0" name="Image 4" descr="/sessions/bold-tender-feynman/mnt/outputs/icons/user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2540" y="1970532"/>
            <a:ext cx="283464" cy="2834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57032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人工審核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8311896" y="2962656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僅高風險變更需人工核可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9857232" y="2606040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34" name="Shape 27"/>
          <p:cNvSpPr/>
          <p:nvPr/>
        </p:nvSpPr>
        <p:spPr>
          <a:xfrm>
            <a:off x="9747504" y="1481328"/>
            <a:ext cx="274320" cy="274320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35" name="Shape 28"/>
          <p:cNvSpPr/>
          <p:nvPr/>
        </p:nvSpPr>
        <p:spPr>
          <a:xfrm>
            <a:off x="10104120" y="1600200"/>
            <a:ext cx="1700784" cy="2286000"/>
          </a:xfrm>
          <a:prstGeom prst="roundRect">
            <a:avLst>
              <a:gd name="adj" fmla="val 4301"/>
            </a:avLst>
          </a:prstGeom>
          <a:solidFill>
            <a:srgbClr val="E8F6EE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671048" y="1828800"/>
            <a:ext cx="566928" cy="56692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37" name="Image 5" descr="/sessions/bold-tender-feynman/mnt/outputs/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2780" y="1970532"/>
            <a:ext cx="283464" cy="28346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177272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9E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合併部署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10232136" y="2962656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進入整合驗測環境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548640" y="4023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低風險變更：四道閘門全過即自動合併，不需等人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566928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可信的閘門，必須具備四個特性</a:t>
            </a:r>
            <a:endParaRPr lang="en-US" sz="1500" dirty="0"/>
          </a:p>
        </p:txBody>
      </p:sp>
      <p:sp>
        <p:nvSpPr>
          <p:cNvPr id="42" name="Shape 34"/>
          <p:cNvSpPr/>
          <p:nvPr/>
        </p:nvSpPr>
        <p:spPr>
          <a:xfrm>
            <a:off x="566928" y="49377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EEF3FB"/>
          </a:solidFill>
          <a:ln/>
        </p:spPr>
      </p:sp>
      <p:sp>
        <p:nvSpPr>
          <p:cNvPr id="43" name="Text 35"/>
          <p:cNvSpPr/>
          <p:nvPr/>
        </p:nvSpPr>
        <p:spPr>
          <a:xfrm>
            <a:off x="749808" y="50840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獨立性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749808" y="54772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驗證者不是產生者——不讓 AI 自己改自己的考卷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3383280" y="49377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EEF3FB"/>
          </a:solidFill>
          <a:ln/>
        </p:spPr>
      </p:sp>
      <p:sp>
        <p:nvSpPr>
          <p:cNvPr id="46" name="Text 38"/>
          <p:cNvSpPr/>
          <p:nvPr/>
        </p:nvSpPr>
        <p:spPr>
          <a:xfrm>
            <a:off x="3566160" y="50840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鑑別力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3566160" y="54772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能真正分出好壞，不是形式上的橡皮圖章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6199632" y="49377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EEF3FB"/>
          </a:solidFill>
          <a:ln/>
        </p:spPr>
      </p:sp>
      <p:sp>
        <p:nvSpPr>
          <p:cNvPr id="49" name="Text 41"/>
          <p:cNvSpPr/>
          <p:nvPr/>
        </p:nvSpPr>
        <p:spPr>
          <a:xfrm>
            <a:off x="6382512" y="50840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可解釋</a:t>
            </a:r>
            <a:endParaRPr lang="en-US" sz="1400" dirty="0"/>
          </a:p>
        </p:txBody>
      </p:sp>
      <p:sp>
        <p:nvSpPr>
          <p:cNvPr id="50" name="Text 42"/>
          <p:cNvSpPr/>
          <p:nvPr/>
        </p:nvSpPr>
        <p:spPr>
          <a:xfrm>
            <a:off x="6382512" y="54772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每一次擋下，都說得出明確原因與修正方向</a:t>
            </a:r>
            <a:endParaRPr lang="en-US" sz="1050" dirty="0"/>
          </a:p>
        </p:txBody>
      </p:sp>
      <p:sp>
        <p:nvSpPr>
          <p:cNvPr id="51" name="Shape 43"/>
          <p:cNvSpPr/>
          <p:nvPr/>
        </p:nvSpPr>
        <p:spPr>
          <a:xfrm>
            <a:off x="9015984" y="49377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EEF3FB"/>
          </a:solidFill>
          <a:ln/>
        </p:spPr>
      </p:sp>
      <p:sp>
        <p:nvSpPr>
          <p:cNvPr id="52" name="Text 44"/>
          <p:cNvSpPr/>
          <p:nvPr/>
        </p:nvSpPr>
        <p:spPr>
          <a:xfrm>
            <a:off x="9198864" y="50840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可重現</a:t>
            </a:r>
            <a:endParaRPr lang="en-US" sz="1400" dirty="0"/>
          </a:p>
        </p:txBody>
      </p:sp>
      <p:sp>
        <p:nvSpPr>
          <p:cNvPr id="53" name="Text 45"/>
          <p:cNvSpPr/>
          <p:nvPr/>
        </p:nvSpPr>
        <p:spPr>
          <a:xfrm>
            <a:off x="9198864" y="54772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全自動執行，同樣輸入必得同樣結果</a:t>
            </a:r>
            <a:endParaRPr lang="en-US" sz="1050" dirty="0"/>
          </a:p>
        </p:txBody>
      </p:sp>
      <p:sp>
        <p:nvSpPr>
          <p:cNvPr id="54" name="Text 46"/>
          <p:cNvSpPr/>
          <p:nvPr/>
        </p:nvSpPr>
        <p:spPr>
          <a:xfrm>
            <a:off x="566928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2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參考：CodeRabbit《Quality Gates for AI-Generated Code》https://www.coderabbit.ai/guides/ai-generated-code-quality-gate　｜　Codacy《AI-Generated Code Needs Verification, Not Human Approval》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DevOps 全貌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貫穿全鏈路，人類只在三個節點做決策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039112"/>
            <a:ext cx="102412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做什麼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730752"/>
            <a:ext cx="1024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7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人做什麼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91640" y="1371600"/>
            <a:ext cx="159258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371600"/>
            <a:ext cx="15011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規劃 Plan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83636" y="1481328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10" name="Shape 8"/>
          <p:cNvSpPr/>
          <p:nvPr/>
        </p:nvSpPr>
        <p:spPr>
          <a:xfrm>
            <a:off x="1691640" y="2039112"/>
            <a:ext cx="1592580" cy="1572768"/>
          </a:xfrm>
          <a:prstGeom prst="roundRect">
            <a:avLst>
              <a:gd name="adj" fmla="val 3488"/>
            </a:avLst>
          </a:prstGeom>
          <a:solidFill>
            <a:srgbClr val="E6F4F3"/>
          </a:solidFill>
          <a:ln/>
        </p:spPr>
      </p:sp>
      <p:sp>
        <p:nvSpPr>
          <p:cNvPr id="11" name="Shape 9"/>
          <p:cNvSpPr/>
          <p:nvPr/>
        </p:nvSpPr>
        <p:spPr>
          <a:xfrm>
            <a:off x="2268474" y="217627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0" descr="/sessions/bold-tender-feynman/mnt/output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8202" y="2286000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92224" y="2724912"/>
            <a:ext cx="13914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彙整需求與歷史紀錄</a:t>
            </a:r>
            <a:endParaRPr lang="en-US" sz="9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找出缺漏與衝突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691640" y="3730752"/>
            <a:ext cx="1592580" cy="13716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64792" y="4005072"/>
            <a:ext cx="1446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確認需求範圍與目標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57372" y="1371600"/>
            <a:ext cx="159258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3403092" y="1371600"/>
            <a:ext cx="15011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規格 Spec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9368" y="1481328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19" name="Shape 16"/>
          <p:cNvSpPr/>
          <p:nvPr/>
        </p:nvSpPr>
        <p:spPr>
          <a:xfrm>
            <a:off x="3357372" y="2039112"/>
            <a:ext cx="1592580" cy="1572768"/>
          </a:xfrm>
          <a:prstGeom prst="roundRect">
            <a:avLst>
              <a:gd name="adj" fmla="val 3488"/>
            </a:avLst>
          </a:prstGeom>
          <a:solidFill>
            <a:srgbClr val="E6F4F3"/>
          </a:solidFill>
          <a:ln/>
        </p:spPr>
      </p:sp>
      <p:sp>
        <p:nvSpPr>
          <p:cNvPr id="20" name="Shape 17"/>
          <p:cNvSpPr/>
          <p:nvPr/>
        </p:nvSpPr>
        <p:spPr>
          <a:xfrm>
            <a:off x="3934206" y="217627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1" descr="/sessions/bold-tender-feynman/mnt/outputs/icons/file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934" y="2286000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457956" y="2724912"/>
            <a:ext cx="13914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輸出結構化 MD 規格</a:t>
            </a:r>
            <a:endParaRPr lang="en-US" sz="9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 EARS 驗收條件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357372" y="3730752"/>
            <a:ext cx="1592580" cy="137160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016502" y="3840480"/>
            <a:ext cx="274320" cy="274320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25" name="Text 21"/>
          <p:cNvSpPr/>
          <p:nvPr/>
        </p:nvSpPr>
        <p:spPr>
          <a:xfrm>
            <a:off x="3430524" y="4224528"/>
            <a:ext cx="1446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審核規格正確與完整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023104" y="1371600"/>
            <a:ext cx="159258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27" name="Text 23"/>
          <p:cNvSpPr/>
          <p:nvPr/>
        </p:nvSpPr>
        <p:spPr>
          <a:xfrm>
            <a:off x="5068824" y="1371600"/>
            <a:ext cx="15011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開發 Code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515100" y="1481328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29" name="Shape 25"/>
          <p:cNvSpPr/>
          <p:nvPr/>
        </p:nvSpPr>
        <p:spPr>
          <a:xfrm>
            <a:off x="5023104" y="2039112"/>
            <a:ext cx="1592580" cy="1572768"/>
          </a:xfrm>
          <a:prstGeom prst="roundRect">
            <a:avLst>
              <a:gd name="adj" fmla="val 3488"/>
            </a:avLst>
          </a:prstGeom>
          <a:solidFill>
            <a:srgbClr val="E6F4F3"/>
          </a:solidFill>
          <a:ln/>
        </p:spPr>
      </p:sp>
      <p:sp>
        <p:nvSpPr>
          <p:cNvPr id="30" name="Shape 26"/>
          <p:cNvSpPr/>
          <p:nvPr/>
        </p:nvSpPr>
        <p:spPr>
          <a:xfrm>
            <a:off x="5599938" y="217627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2" descr="/sessions/bold-tender-feynman/mnt/outputs/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666" y="2286000"/>
            <a:ext cx="219456" cy="21945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123688" y="2724912"/>
            <a:ext cx="13914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測試先行，後產程式</a:t>
            </a:r>
            <a:endParaRPr lang="en-US" sz="9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未通過自動修正重試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023104" y="3730752"/>
            <a:ext cx="1592580" cy="13716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096256" y="4005072"/>
            <a:ext cx="1446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審核架構與複雜設計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688836" y="1371600"/>
            <a:ext cx="159258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36" name="Text 31"/>
          <p:cNvSpPr/>
          <p:nvPr/>
        </p:nvSpPr>
        <p:spPr>
          <a:xfrm>
            <a:off x="6734556" y="1371600"/>
            <a:ext cx="15011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建置 CI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8180832" y="1481328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38" name="Shape 33"/>
          <p:cNvSpPr/>
          <p:nvPr/>
        </p:nvSpPr>
        <p:spPr>
          <a:xfrm>
            <a:off x="6688836" y="2039112"/>
            <a:ext cx="1592580" cy="1572768"/>
          </a:xfrm>
          <a:prstGeom prst="roundRect">
            <a:avLst>
              <a:gd name="adj" fmla="val 3488"/>
            </a:avLst>
          </a:prstGeom>
          <a:solidFill>
            <a:srgbClr val="E6F4F3"/>
          </a:solidFill>
          <a:ln/>
        </p:spPr>
      </p:sp>
      <p:sp>
        <p:nvSpPr>
          <p:cNvPr id="39" name="Shape 34"/>
          <p:cNvSpPr/>
          <p:nvPr/>
        </p:nvSpPr>
        <p:spPr>
          <a:xfrm>
            <a:off x="7265670" y="217627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0" name="Image 3" descr="/sessions/bold-tender-feynman/mnt/outputs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398" y="2286000"/>
            <a:ext cx="219456" cy="219456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789420" y="2724912"/>
            <a:ext cx="13914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靜態分析、安全掃描</a:t>
            </a:r>
            <a:endParaRPr lang="en-US" sz="9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覆蓋率＋突變分數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688836" y="3730752"/>
            <a:ext cx="1592580" cy="13716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761988" y="4005072"/>
            <a:ext cx="1446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高風險變更人工核可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8354568" y="1371600"/>
            <a:ext cx="159258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45" name="Text 39"/>
          <p:cNvSpPr/>
          <p:nvPr/>
        </p:nvSpPr>
        <p:spPr>
          <a:xfrm>
            <a:off x="8400288" y="1371600"/>
            <a:ext cx="15011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驗測 Test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9846564" y="1481328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47" name="Shape 41"/>
          <p:cNvSpPr/>
          <p:nvPr/>
        </p:nvSpPr>
        <p:spPr>
          <a:xfrm>
            <a:off x="8354568" y="2039112"/>
            <a:ext cx="1592580" cy="1572768"/>
          </a:xfrm>
          <a:prstGeom prst="roundRect">
            <a:avLst>
              <a:gd name="adj" fmla="val 3488"/>
            </a:avLst>
          </a:prstGeom>
          <a:solidFill>
            <a:srgbClr val="E6F4F3"/>
          </a:solidFill>
          <a:ln/>
        </p:spPr>
      </p:sp>
      <p:sp>
        <p:nvSpPr>
          <p:cNvPr id="48" name="Shape 42"/>
          <p:cNvSpPr/>
          <p:nvPr/>
        </p:nvSpPr>
        <p:spPr>
          <a:xfrm>
            <a:off x="8931402" y="217627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9" name="Image 4" descr="/sessions/bold-tender-feynman/mnt/outputs/icons/flas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130" y="2286000"/>
            <a:ext cx="219456" cy="219456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8455152" y="2724912"/>
            <a:ext cx="13914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由規格展開條件與案例</a:t>
            </a:r>
            <a:endParaRPr lang="en-US" sz="9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產生腳本並自動執行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8354568" y="3730752"/>
            <a:ext cx="1592580" cy="137160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9013698" y="3840480"/>
            <a:ext cx="274320" cy="274320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53" name="Text 46"/>
          <p:cNvSpPr/>
          <p:nvPr/>
        </p:nvSpPr>
        <p:spPr>
          <a:xfrm>
            <a:off x="8427720" y="4224528"/>
            <a:ext cx="1446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審核測試角度與風險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10020300" y="1371600"/>
            <a:ext cx="159258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55" name="Text 48"/>
          <p:cNvSpPr/>
          <p:nvPr/>
        </p:nvSpPr>
        <p:spPr>
          <a:xfrm>
            <a:off x="10066020" y="1371600"/>
            <a:ext cx="15011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發布與監控</a:t>
            </a:r>
            <a:endParaRPr lang="en-US" sz="1200" dirty="0"/>
          </a:p>
        </p:txBody>
      </p:sp>
      <p:sp>
        <p:nvSpPr>
          <p:cNvPr id="56" name="Shape 49"/>
          <p:cNvSpPr/>
          <p:nvPr/>
        </p:nvSpPr>
        <p:spPr>
          <a:xfrm>
            <a:off x="10020300" y="2039112"/>
            <a:ext cx="1592580" cy="1572768"/>
          </a:xfrm>
          <a:prstGeom prst="roundRect">
            <a:avLst>
              <a:gd name="adj" fmla="val 3488"/>
            </a:avLst>
          </a:prstGeom>
          <a:solidFill>
            <a:srgbClr val="E6F4F3"/>
          </a:solidFill>
          <a:ln/>
        </p:spPr>
      </p:sp>
      <p:sp>
        <p:nvSpPr>
          <p:cNvPr id="57" name="Shape 50"/>
          <p:cNvSpPr/>
          <p:nvPr/>
        </p:nvSpPr>
        <p:spPr>
          <a:xfrm>
            <a:off x="10597134" y="217627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8" name="Image 5" descr="/sessions/bold-tender-feynman/mnt/outputs/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6862" y="2286000"/>
            <a:ext cx="219456" cy="219456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10120884" y="2724912"/>
            <a:ext cx="13914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彙整儀表板與缺陷風險</a:t>
            </a:r>
            <a:endParaRPr lang="en-US" sz="9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上線後監控與回饋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10020300" y="3730752"/>
            <a:ext cx="1592580" cy="137160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10679430" y="3840480"/>
            <a:ext cx="274320" cy="274320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62" name="Text 54"/>
          <p:cNvSpPr/>
          <p:nvPr/>
        </p:nvSpPr>
        <p:spPr>
          <a:xfrm>
            <a:off x="10093452" y="4224528"/>
            <a:ext cx="1446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依數據決定放行 UAT</a:t>
            </a:r>
            <a:endParaRPr lang="en-US" sz="1000" dirty="0"/>
          </a:p>
        </p:txBody>
      </p:sp>
      <p:sp>
        <p:nvSpPr>
          <p:cNvPr id="63" name="Shape 55"/>
          <p:cNvSpPr/>
          <p:nvPr/>
        </p:nvSpPr>
        <p:spPr>
          <a:xfrm>
            <a:off x="10816590" y="5102352"/>
            <a:ext cx="0" cy="329184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2487930" y="5431536"/>
            <a:ext cx="83286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2487930" y="5102352"/>
            <a:ext cx="0" cy="329184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headEnd type="triangle"/>
          </a:ln>
        </p:spPr>
      </p:sp>
      <p:sp>
        <p:nvSpPr>
          <p:cNvPr id="66" name="Text 58"/>
          <p:cNvSpPr/>
          <p:nvPr/>
        </p:nvSpPr>
        <p:spPr>
          <a:xfrm>
            <a:off x="2762250" y="5138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監控回饋 → 需求與規格持續演進（DevOps 循環）</a:t>
            </a:r>
            <a:endParaRPr lang="en-US" sz="1050" dirty="0"/>
          </a:p>
        </p:txBody>
      </p:sp>
      <p:sp>
        <p:nvSpPr>
          <p:cNvPr id="67" name="Shape 59"/>
          <p:cNvSpPr/>
          <p:nvPr/>
        </p:nvSpPr>
        <p:spPr>
          <a:xfrm>
            <a:off x="548640" y="5623560"/>
            <a:ext cx="11082528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68" name="Text 60"/>
          <p:cNvSpPr/>
          <p:nvPr/>
        </p:nvSpPr>
        <p:spPr>
          <a:xfrm>
            <a:off x="548640" y="5623560"/>
            <a:ext cx="11082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在每個階段自動執行並留下紀錄；人類集中在三個節點（◆）做判斷——流程不中斷，每一步都可稽核。</a:t>
            </a:r>
            <a:endParaRPr lang="en-US" sz="1300" dirty="0"/>
          </a:p>
        </p:txBody>
      </p:sp>
      <p:sp>
        <p:nvSpPr>
          <p:cNvPr id="69" name="Text 61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決策儀表板（示意）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放行與否，讓數據說話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176272" y="15910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測試條件覆蓋率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176272" y="195681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條中 24 條已有案例並執行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3291840" cy="155448"/>
          </a:xfrm>
          <a:prstGeom prst="roundRect">
            <a:avLst>
              <a:gd name="adj" fmla="val 294118"/>
            </a:avLst>
          </a:prstGeom>
          <a:solidFill>
            <a:srgbClr val="E5E9F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24912"/>
            <a:ext cx="3160166" cy="155448"/>
          </a:xfrm>
          <a:prstGeom prst="roundRect">
            <a:avLst>
              <a:gd name="adj" fmla="val 294118"/>
            </a:avLst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137160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5544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92.6%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016752" y="15910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測試案例通過率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16752" y="195681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148 案例：137 通過 ｜ 11 未過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724912"/>
            <a:ext cx="3291840" cy="155448"/>
          </a:xfrm>
          <a:prstGeom prst="roundRect">
            <a:avLst>
              <a:gd name="adj" fmla="val 294118"/>
            </a:avLst>
          </a:prstGeom>
          <a:solidFill>
            <a:srgbClr val="E5E9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2724912"/>
            <a:ext cx="3048244" cy="155448"/>
          </a:xfrm>
          <a:prstGeom prst="roundRect">
            <a:avLst>
              <a:gd name="adj" fmla="val 294118"/>
            </a:avLst>
          </a:prstGeom>
          <a:solidFill>
            <a:srgbClr val="2E3A7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137160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5544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601200" y="1591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高風險未解缺陷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601200" y="19568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個未過案例中 2 個屬高風險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0" y="2670048"/>
            <a:ext cx="1371600" cy="274320"/>
          </a:xfrm>
          <a:prstGeom prst="roundRect">
            <a:avLst>
              <a:gd name="adj" fmla="val 166667"/>
            </a:avLst>
          </a:prstGeom>
          <a:solidFill>
            <a:srgbClr val="FBEAE8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未達放行標準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310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測試條件通過率（節選 4 條，共 25 條）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TC-01 登入驗證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65960" y="374904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12／12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97480" y="3749040"/>
            <a:ext cx="3383280" cy="292608"/>
          </a:xfrm>
          <a:prstGeom prst="roundRect">
            <a:avLst>
              <a:gd name="adj" fmla="val 12500"/>
            </a:avLst>
          </a:prstGeom>
          <a:solidFill>
            <a:srgbClr val="EEF1F7"/>
          </a:solidFill>
          <a:ln/>
        </p:spPr>
      </p:sp>
      <p:sp>
        <p:nvSpPr>
          <p:cNvPr id="26" name="Shape 24"/>
          <p:cNvSpPr/>
          <p:nvPr/>
        </p:nvSpPr>
        <p:spPr>
          <a:xfrm>
            <a:off x="2697480" y="3749040"/>
            <a:ext cx="3383280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749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42611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TC-02 交易流程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65960" y="42611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19／20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97480" y="4261104"/>
            <a:ext cx="3383280" cy="292608"/>
          </a:xfrm>
          <a:prstGeom prst="roundRect">
            <a:avLst>
              <a:gd name="adj" fmla="val 12500"/>
            </a:avLst>
          </a:prstGeom>
          <a:solidFill>
            <a:srgbClr val="EEF1F7"/>
          </a:solidFill>
          <a:ln/>
        </p:spPr>
      </p:sp>
      <p:sp>
        <p:nvSpPr>
          <p:cNvPr id="31" name="Shape 29"/>
          <p:cNvSpPr/>
          <p:nvPr/>
        </p:nvSpPr>
        <p:spPr>
          <a:xfrm>
            <a:off x="2697480" y="4261104"/>
            <a:ext cx="3214116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426110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4773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TC-03 權限控管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65960" y="47731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14／16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97480" y="4773168"/>
            <a:ext cx="3383280" cy="292608"/>
          </a:xfrm>
          <a:prstGeom prst="roundRect">
            <a:avLst>
              <a:gd name="adj" fmla="val 12500"/>
            </a:avLst>
          </a:prstGeom>
          <a:solidFill>
            <a:srgbClr val="EEF1F7"/>
          </a:solidFill>
          <a:ln/>
        </p:spPr>
      </p:sp>
      <p:sp>
        <p:nvSpPr>
          <p:cNvPr id="36" name="Shape 34"/>
          <p:cNvSpPr/>
          <p:nvPr/>
        </p:nvSpPr>
        <p:spPr>
          <a:xfrm>
            <a:off x="2697480" y="4773168"/>
            <a:ext cx="2960370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47731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87.5%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" y="5285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TC-04 報表匯出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965960" y="52852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6／10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97480" y="5285232"/>
            <a:ext cx="3383280" cy="292608"/>
          </a:xfrm>
          <a:prstGeom prst="roundRect">
            <a:avLst>
              <a:gd name="adj" fmla="val 12500"/>
            </a:avLst>
          </a:prstGeom>
          <a:solidFill>
            <a:srgbClr val="EEF1F7"/>
          </a:solidFill>
          <a:ln/>
        </p:spPr>
      </p:sp>
      <p:sp>
        <p:nvSpPr>
          <p:cNvPr id="41" name="Shape 39"/>
          <p:cNvSpPr/>
          <p:nvPr/>
        </p:nvSpPr>
        <p:spPr>
          <a:xfrm>
            <a:off x="2697480" y="5285232"/>
            <a:ext cx="2029968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52852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97480" y="5669280"/>
            <a:ext cx="3383280" cy="0"/>
          </a:xfrm>
          <a:prstGeom prst="line">
            <a:avLst/>
          </a:prstGeom>
          <a:noFill/>
          <a:ln w="12700">
            <a:solidFill>
              <a:srgbClr val="D8E0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57241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51960" y="57241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97880" y="57241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6928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節選 4 條合計 51／58 案例通過；其餘 21 條合計 86／90 —— 全體 137／148 ＝ 92.6%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0" y="3703320"/>
            <a:ext cx="429768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763524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放行規則（事先議定）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635240" y="431596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高風險未解缺陷 ＝ 0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風險覆蓋率 ≥ 95%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高優先案例通過率 ≥ 98%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三項全達標亮綠燈，核可後上 UAT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635240" y="5532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上圖示意狀態：未達標（高風險缺陷 2 ＞ 0）</a:t>
            </a:r>
            <a:endParaRPr lang="en-US" sz="12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需先修復 TC-04 相關缺陷後再放行。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人的價值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取代的是執行，不是判斷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63240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現在（人工執行）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543800" y="13533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未來（人類審核）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92808"/>
            <a:ext cx="566928" cy="56692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7" name="Image 0" descr="/sessions/bold-tender-feynman/mnt/output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034540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1907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SA／PM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063240" y="1719072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171907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人工撰寫需求文件，往返澄清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49440" y="2020824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12" name="Shape 9"/>
          <p:cNvSpPr/>
          <p:nvPr/>
        </p:nvSpPr>
        <p:spPr>
          <a:xfrm>
            <a:off x="7543800" y="1719072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6F7F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171907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 AI 整理的規格，把守品質源頭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944368"/>
            <a:ext cx="566928" cy="56692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5" name="Image 1" descr="/sessions/bold-tender-feynman/mnt/outputs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3086100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277063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063240" y="2770632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91840" y="27706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逐行手寫程式與除錯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949440" y="3072384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20" name="Shape 16"/>
          <p:cNvSpPr/>
          <p:nvPr/>
        </p:nvSpPr>
        <p:spPr>
          <a:xfrm>
            <a:off x="7543800" y="2770632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6F7F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0" y="277063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 AI 產出，把關架構與複雜設計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080" y="3995928"/>
            <a:ext cx="566928" cy="56692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23" name="Image 2" descr="/sessions/bold-tender-feynman/mnt/outputs/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4137660"/>
            <a:ext cx="283464" cy="2834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71600" y="382219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3063240" y="3822192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291840" y="382219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手工撰寫並逐一執行測試案例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949440" y="4123944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28" name="Shape 23"/>
          <p:cNvSpPr/>
          <p:nvPr/>
        </p:nvSpPr>
        <p:spPr>
          <a:xfrm>
            <a:off x="7543800" y="3822192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6F7F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772400" y="38221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設計測試角度，審核覆蓋與風險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40080" y="5047488"/>
            <a:ext cx="566928" cy="56692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31" name="Image 3" descr="/sessions/bold-tender-feynman/mnt/outputs/icons/usert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5189220"/>
            <a:ext cx="283464" cy="2834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71600" y="487375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決策者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3063240" y="4873752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291840" y="48737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缺乏量化依據，難以評估放行風險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949440" y="5175504"/>
            <a:ext cx="274320" cy="310896"/>
          </a:xfrm>
          <a:prstGeom prst="rightArrow">
            <a:avLst/>
          </a:prstGeom>
          <a:solidFill>
            <a:srgbClr val="9AA7C4"/>
          </a:solidFill>
          <a:ln/>
        </p:spPr>
      </p:sp>
      <p:sp>
        <p:nvSpPr>
          <p:cNvPr id="36" name="Shape 30"/>
          <p:cNvSpPr/>
          <p:nvPr/>
        </p:nvSpPr>
        <p:spPr>
          <a:xfrm>
            <a:off x="7543800" y="4873752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6F7F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772400" y="487375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依儀表板數據放行，決策全程留痕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548640" y="5925312"/>
            <a:ext cx="1108252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39" name="Text 33"/>
          <p:cNvSpPr/>
          <p:nvPr/>
        </p:nvSpPr>
        <p:spPr>
          <a:xfrm>
            <a:off x="548640" y="5925312"/>
            <a:ext cx="11082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人力從重複執行中釋放，專注在 AI 做不到的事：判斷、審核、決策。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信任，來自可驗證的證據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重點不是「相信 AI」，而是建立一套能「驗證 AI」的機制。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2E3A7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32918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sessions/bold-tender-feynman/mnt/outputs/icons/v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81" y="3439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每行程式，先有測試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9728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AI-TDD 先測試後程式；突變測試把關測試本身的品質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0560" y="3017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2E3A78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32918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sessions/bold-tender-feynman/mnt/outputs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81" y="343924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每個案例，都有出處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75488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 → 測試條件 → 案例 → 結果，RTM 全程雙向追溯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3017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2E3A78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32918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sessions/bold-tender-feynman/mnt/outputs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881" y="343924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每次放行，都有數據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1248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風險儀表板呈現覆蓋與缺口，人做最終決定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建議下一步：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選定一個小型專案試點，以真實數據驗證這套機制，再逐步擴大。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6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2026-08-03T01:40:01Z</dcterms:created>
  <dcterms:modified xsi:type="dcterms:W3CDTF">2026-08-03T01:40:01Z</dcterms:modified>
</cp:coreProperties>
</file>