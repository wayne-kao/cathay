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4"/>
    <p:sldId id="258" r:id="rId8"/>
    <p:sldId id="259" r:id="rId9"/>
    <p:sldId id="260" r:id="rId12"/>
    <p:sldId id="261" r:id="rId20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2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  <Relationship Id="rId20" Type="http://schemas.openxmlformats.org/officeDocument/2006/relationships/slide" Target="slides/slide14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開發流程 AI 化提案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規格驅動開發，審核機制保障品質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規格驅動 × 測試先行 × 風險基準 —— 一套讓 AI 產出「可被驗證」的信任機制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234440" y="3794760"/>
            <a:ext cx="868680" cy="868680"/>
          </a:xfrm>
          <a:prstGeom prst="ellipse">
            <a:avLst/>
          </a:prstGeom>
          <a:solidFill>
            <a:srgbClr val="2E3A78"/>
          </a:solidFill>
          <a:ln/>
        </p:spPr>
      </p:sp>
      <p:pic>
        <p:nvPicPr>
          <p:cNvPr id="6" name="Image 0" descr="/sessions/bold-tender-feynman/mnt/outputs/icons/filea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0297" y="402061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48006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03120" y="4229100"/>
            <a:ext cx="1371600" cy="0"/>
          </a:xfrm>
          <a:prstGeom prst="line">
            <a:avLst/>
          </a:prstGeom>
          <a:noFill/>
          <a:ln w="19050">
            <a:solidFill>
              <a:srgbClr val="4A569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74720" y="3794760"/>
            <a:ext cx="868680" cy="868680"/>
          </a:xfrm>
          <a:prstGeom prst="ellipse">
            <a:avLst/>
          </a:prstGeom>
          <a:solidFill>
            <a:srgbClr val="2E3A78"/>
          </a:solidFill>
          <a:ln/>
        </p:spPr>
      </p:sp>
      <p:pic>
        <p:nvPicPr>
          <p:cNvPr id="10" name="Image 1" descr="/sessions/bold-tender-feynman/mnt/outputs/icons/markd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577" y="4020617"/>
            <a:ext cx="416966" cy="41696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71800" y="48006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規格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343400" y="4229100"/>
            <a:ext cx="1371600" cy="0"/>
          </a:xfrm>
          <a:prstGeom prst="line">
            <a:avLst/>
          </a:prstGeom>
          <a:noFill/>
          <a:ln w="19050">
            <a:solidFill>
              <a:srgbClr val="4A569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715000" y="3794760"/>
            <a:ext cx="868680" cy="868680"/>
          </a:xfrm>
          <a:prstGeom prst="ellipse">
            <a:avLst/>
          </a:prstGeom>
          <a:solidFill>
            <a:srgbClr val="2E3A78"/>
          </a:solidFill>
          <a:ln/>
        </p:spPr>
      </p:sp>
      <p:pic>
        <p:nvPicPr>
          <p:cNvPr id="14" name="Image 2" descr="/sessions/bold-tender-feynman/mnt/outputs/icons/rob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857" y="4020617"/>
            <a:ext cx="416966" cy="41696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12080" y="48006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開發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583680" y="4229100"/>
            <a:ext cx="1371600" cy="0"/>
          </a:xfrm>
          <a:prstGeom prst="line">
            <a:avLst/>
          </a:prstGeom>
          <a:noFill/>
          <a:ln w="19050">
            <a:solidFill>
              <a:srgbClr val="4A5694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955280" y="3794760"/>
            <a:ext cx="868680" cy="868680"/>
          </a:xfrm>
          <a:prstGeom prst="ellipse">
            <a:avLst/>
          </a:prstGeom>
          <a:solidFill>
            <a:srgbClr val="2E3A78"/>
          </a:solidFill>
          <a:ln/>
        </p:spPr>
      </p:sp>
      <p:pic>
        <p:nvPicPr>
          <p:cNvPr id="18" name="Image 3" descr="/sessions/bold-tender-feynman/mnt/outputs/icons/flas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1137" y="4020617"/>
            <a:ext cx="416966" cy="41696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52360" y="48006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自動測試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8823960" y="4229100"/>
            <a:ext cx="1371600" cy="0"/>
          </a:xfrm>
          <a:prstGeom prst="line">
            <a:avLst/>
          </a:prstGeom>
          <a:noFill/>
          <a:ln w="19050">
            <a:solidFill>
              <a:srgbClr val="4A5694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0195560" y="3794760"/>
            <a:ext cx="868680" cy="868680"/>
          </a:xfrm>
          <a:prstGeom prst="ellipse">
            <a:avLst/>
          </a:prstGeom>
          <a:solidFill>
            <a:srgbClr val="2E3A78"/>
          </a:solidFill>
          <a:ln/>
        </p:spPr>
      </p:sp>
      <p:pic>
        <p:nvPicPr>
          <p:cNvPr id="22" name="Image 4" descr="/sessions/bold-tender-feynman/mnt/outputs/icons/gau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1417" y="4020617"/>
            <a:ext cx="416966" cy="41696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692640" y="48006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數據放行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82296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6C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提報人：Wayne ｜ 2026.08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方法論總覽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三大支柱，一條可驗證的審核線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39312" cy="3703320"/>
          </a:xfrm>
          <a:prstGeom prst="roundRect">
            <a:avLst>
              <a:gd name="adj" fmla="val 2010"/>
            </a:avLst>
          </a:prstGeom>
          <a:solidFill>
            <a:srgbClr val="EEF3FB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691640"/>
            <a:ext cx="658368" cy="658368"/>
          </a:xfrm>
          <a:prstGeom prst="ellipse">
            <a:avLst/>
          </a:prstGeom>
          <a:solidFill>
            <a:srgbClr val="2E3A78"/>
          </a:solidFill>
          <a:ln/>
        </p:spPr>
      </p:sp>
      <p:pic>
        <p:nvPicPr>
          <p:cNvPr id="6" name="Image 0" descr="/sessions/bold-tender-feynman/mnt/outputs/icons/filea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5623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37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規格驅動開發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91640" y="21305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SDD · Spec-Driven Development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68680" y="269748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需求轉為 MD 規格，成為唯一事實來源</a:t>
            </a:r>
            <a:endParaRPr lang="en-US" sz="125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依規格開發，規格審核決定產出品質</a:t>
            </a:r>
            <a:endParaRPr lang="en-US" sz="125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Microsoft／GitHub／AWS 現行主流做法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70832" y="1371600"/>
            <a:ext cx="3639312" cy="3703320"/>
          </a:xfrm>
          <a:prstGeom prst="roundRect">
            <a:avLst>
              <a:gd name="adj" fmla="val 2010"/>
            </a:avLst>
          </a:prstGeom>
          <a:solidFill>
            <a:srgbClr val="EEF3FB"/>
          </a:solidFill>
          <a:ln/>
        </p:spPr>
      </p:sp>
      <p:sp>
        <p:nvSpPr>
          <p:cNvPr id="11" name="Shape 8"/>
          <p:cNvSpPr/>
          <p:nvPr/>
        </p:nvSpPr>
        <p:spPr>
          <a:xfrm>
            <a:off x="4663440" y="1691640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/sessions/bold-tender-feynman/mnt/outputs/icons/vi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856232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13832" y="1737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測試先行開發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513832" y="21305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AI-TDD · Test-Driven Development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690872" y="269748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先產生測試，再產生程式碼</a:t>
            </a:r>
            <a:endParaRPr lang="en-US" sz="125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測試不通過，程式碼不放行</a:t>
            </a:r>
            <a:endParaRPr lang="en-US" sz="125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IEEE ASE 2024 學術實證有效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93024" y="1371600"/>
            <a:ext cx="3639312" cy="3703320"/>
          </a:xfrm>
          <a:prstGeom prst="roundRect">
            <a:avLst>
              <a:gd name="adj" fmla="val 2010"/>
            </a:avLst>
          </a:prstGeom>
          <a:solidFill>
            <a:srgbClr val="EEF3FB"/>
          </a:solidFill>
          <a:ln/>
        </p:spPr>
      </p:sp>
      <p:sp>
        <p:nvSpPr>
          <p:cNvPr id="17" name="Shape 13"/>
          <p:cNvSpPr/>
          <p:nvPr/>
        </p:nvSpPr>
        <p:spPr>
          <a:xfrm>
            <a:off x="8485632" y="1691640"/>
            <a:ext cx="658368" cy="65836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8" name="Image 2" descr="/sessions/bold-tender-feynman/mnt/outputs/icons/bala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4" y="1856232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336024" y="1737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風險基準測試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9336024" y="21305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RBT · Risk-Based Testing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8513064" y="269748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測試依風險高低排定優先序</a:t>
            </a:r>
            <a:endParaRPr lang="en-US" sz="125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需求追溯矩陣（RTM）雙向追溯</a:t>
            </a:r>
            <a:endParaRPr lang="en-US" sz="125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ISTQB 國際標準測試方法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5257800"/>
            <a:ext cx="11082528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23" name="Text 18"/>
          <p:cNvSpPr/>
          <p:nvPr/>
        </p:nvSpPr>
        <p:spPr>
          <a:xfrm>
            <a:off x="868680" y="5394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Review Gates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三個關鍵審核節點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4480560" y="5577840"/>
            <a:ext cx="310896" cy="310896"/>
          </a:xfrm>
          <a:prstGeom prst="diamond">
            <a:avLst/>
          </a:prstGeom>
          <a:solidFill>
            <a:srgbClr val="E8A33D"/>
          </a:solidFill>
          <a:ln/>
        </p:spPr>
      </p:sp>
      <p:sp>
        <p:nvSpPr>
          <p:cNvPr id="25" name="Text 20"/>
          <p:cNvSpPr/>
          <p:nvPr/>
        </p:nvSpPr>
        <p:spPr>
          <a:xfrm>
            <a:off x="4919472" y="55595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規格審核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6858000" y="5577840"/>
            <a:ext cx="310896" cy="310896"/>
          </a:xfrm>
          <a:prstGeom prst="diamond">
            <a:avLst/>
          </a:prstGeom>
          <a:solidFill>
            <a:srgbClr val="E8A33D"/>
          </a:solidFill>
          <a:ln/>
        </p:spPr>
      </p:sp>
      <p:sp>
        <p:nvSpPr>
          <p:cNvPr id="27" name="Text 22"/>
          <p:cNvSpPr/>
          <p:nvPr/>
        </p:nvSpPr>
        <p:spPr>
          <a:xfrm>
            <a:off x="7296912" y="55595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測試角度審核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9235440" y="5577840"/>
            <a:ext cx="310896" cy="310896"/>
          </a:xfrm>
          <a:prstGeom prst="diamond">
            <a:avLst/>
          </a:prstGeom>
          <a:solidFill>
            <a:srgbClr val="E8A33D"/>
          </a:solidFill>
          <a:ln/>
        </p:spPr>
      </p:sp>
      <p:sp>
        <p:nvSpPr>
          <p:cNvPr id="29" name="Text 24"/>
          <p:cNvSpPr/>
          <p:nvPr/>
        </p:nvSpPr>
        <p:spPr>
          <a:xfrm>
            <a:off x="9674352" y="55595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放行決策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566928" y="647395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2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參考：Microsoft Developer Blog《Spec-Driven Development》｜IEEE ASE 2024《Test-Driven Development and LLM-based Code Generation》｜ISTQB Advanced Test Management（Risk-Based Testing）</a:t>
            </a:r>
            <a:endParaRPr lang="en-US" sz="750" dirty="0"/>
          </a:p>
        </p:txBody>
      </p:sp>
      <p:sp>
        <p:nvSpPr>
          <p:cNvPr id="31" name="Text 26"/>
          <p:cNvSpPr/>
          <p:nvPr/>
        </p:nvSpPr>
        <p:spPr>
          <a:xfrm>
            <a:off x="11064240" y="64739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7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支柱三｜由規格展開測試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測試條件 → 測試案例 → 測試腳本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057400" y="1417320"/>
            <a:ext cx="274320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2148840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EPROZ00200 規格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148840" y="18928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唯一事實來源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29000" y="2304288"/>
            <a:ext cx="0" cy="292608"/>
          </a:xfrm>
          <a:prstGeom prst="line">
            <a:avLst/>
          </a:prstGeom>
          <a:noFill/>
          <a:ln w="19050">
            <a:solidFill>
              <a:srgbClr val="9AA7C4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593592" y="23042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→ N 展開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508760" y="2624328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1600200" y="27157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測試條件 Test Condition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600200" y="30998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「該驗什麼」＋風險等級：本案 13 條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58968" y="2898648"/>
            <a:ext cx="292608" cy="292608"/>
          </a:xfrm>
          <a:prstGeom prst="diamond">
            <a:avLst/>
          </a:prstGeom>
          <a:solidFill>
            <a:srgbClr val="E8A33D"/>
          </a:solidFill>
          <a:ln/>
        </p:spPr>
      </p:sp>
      <p:sp>
        <p:nvSpPr>
          <p:cNvPr id="13" name="Shape 11"/>
          <p:cNvSpPr/>
          <p:nvPr/>
        </p:nvSpPr>
        <p:spPr>
          <a:xfrm>
            <a:off x="3429000" y="3511296"/>
            <a:ext cx="0" cy="292608"/>
          </a:xfrm>
          <a:prstGeom prst="line">
            <a:avLst/>
          </a:prstGeom>
          <a:noFill/>
          <a:ln w="19050">
            <a:solidFill>
              <a:srgbClr val="9AA7C4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593592" y="35112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→ N 展開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05840" y="3831336"/>
            <a:ext cx="4846320" cy="868680"/>
          </a:xfrm>
          <a:prstGeom prst="roundRect">
            <a:avLst>
              <a:gd name="adj" fmla="val 6316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92277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測試案例 Test Case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97280" y="430682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具體「怎麼驗」：本案展開 72 個案例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29000" y="4718304"/>
            <a:ext cx="0" cy="292608"/>
          </a:xfrm>
          <a:prstGeom prst="line">
            <a:avLst/>
          </a:prstGeom>
          <a:noFill/>
          <a:ln w="19050">
            <a:solidFill>
              <a:srgbClr val="9AA7C4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3593592" y="47183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→ N 展開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5038344"/>
            <a:ext cx="5760720" cy="868680"/>
          </a:xfrm>
          <a:prstGeom prst="roundRect">
            <a:avLst>
              <a:gd name="adj" fmla="val 6316"/>
            </a:avLst>
          </a:prstGeom>
          <a:solidFill>
            <a:srgbClr val="2E3A7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12978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測試腳本 Test Script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" y="551383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QA 主導產生，自建／第三方工具執行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" y="59436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7B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◆＝審核「測試角度」是否正確、有無遺漏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37960" y="1417320"/>
            <a:ext cx="5029200" cy="146304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15727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測試條件範例（每條都帶風險等級）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858000" y="19385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TC-012　複製交易失敗時完整回滾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0" y="23317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風險：高　｜　優先序：P1　｜　對應需求：NFR-TX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37960" y="301752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31821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測試案例 CASE-012-02（Given–When–Then）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858000" y="356616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Given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IS 追加案件已選取參考案件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When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建案時擔保品 insert 失敗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Then</a:t>
            </a:r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交易回滾，資料庫無新案任何資料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858000" y="45262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可直接轉為測試腳本；本案例實測未通過（DEF-001）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537960" y="4983480"/>
            <a:ext cx="5029200" cy="1280160"/>
          </a:xfrm>
          <a:prstGeom prst="roundRect">
            <a:avLst>
              <a:gd name="adj" fmla="val 5714"/>
            </a:avLst>
          </a:prstGeom>
          <a:solidFill>
            <a:srgbClr val="FDF3E3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0" y="51206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這一層審核什麼？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858000" y="5431536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測試角度是否正確　｜　有無遺漏關鍵場景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風險等級與優先序是否合理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66928" y="647395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2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參考：ISTQB Glossary — Test Condition / Test Case　https://glossary.istqb.org/　｜　ISTQB Foundation Level Syllabus v4.0（Test Analysis &amp; Design）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1064240" y="64739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7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追溯與風險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每個需求都有測試；每個風險都有對應處置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需求追溯矩陣（RTM）：以 EPROZ00200 建案為例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1554480" cy="603504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920240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286000" y="1920240"/>
            <a:ext cx="3840480" cy="603504"/>
          </a:xfrm>
          <a:prstGeom prst="roundRect">
            <a:avLst>
              <a:gd name="adj" fmla="val 9091"/>
            </a:avLst>
          </a:prstGeom>
          <a:solidFill>
            <a:srgbClr val="EEF3FB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92024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REQ-004 步驟 2　loan type 02/03/04 須帶參考案件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344168" y="2542032"/>
            <a:ext cx="0" cy="201168"/>
          </a:xfrm>
          <a:prstGeom prst="line">
            <a:avLst/>
          </a:prstGeom>
          <a:noFill/>
          <a:ln w="19050">
            <a:solidFill>
              <a:srgbClr val="9AA7C4"/>
            </a:solidFill>
            <a:prstDash val="solid"/>
            <a:headEnd type="triangl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66928" y="2743200"/>
            <a:ext cx="1554480" cy="603504"/>
          </a:xfrm>
          <a:prstGeom prst="roundRect">
            <a:avLst>
              <a:gd name="adj" fmla="val 9091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743200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測試條件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286000" y="2743200"/>
            <a:ext cx="3840480" cy="603504"/>
          </a:xfrm>
          <a:prstGeom prst="roundRect">
            <a:avLst>
              <a:gd name="adj" fmla="val 9091"/>
            </a:avLst>
          </a:prstGeom>
          <a:solidFill>
            <a:srgbClr val="EEF3FB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274320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TC-005　未選 REF_APPLICATION_NO 不得建案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344168" y="3364992"/>
            <a:ext cx="0" cy="201168"/>
          </a:xfrm>
          <a:prstGeom prst="line">
            <a:avLst/>
          </a:prstGeom>
          <a:noFill/>
          <a:ln w="19050">
            <a:solidFill>
              <a:srgbClr val="9AA7C4"/>
            </a:solidFill>
            <a:prstDash val="solid"/>
            <a:headEnd type="triangl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66928" y="3566160"/>
            <a:ext cx="1554480" cy="603504"/>
          </a:xfrm>
          <a:prstGeom prst="roundRect">
            <a:avLst>
              <a:gd name="adj" fmla="val 9091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566160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測試案例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286000" y="3566160"/>
            <a:ext cx="3840480" cy="603504"/>
          </a:xfrm>
          <a:prstGeom prst="roundRect">
            <a:avLst>
              <a:gd name="adj" fmla="val 9091"/>
            </a:avLst>
          </a:prstGeom>
          <a:solidFill>
            <a:srgbClr val="EEF3FB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356616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CASE-005-01　Given／When／Then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344168" y="4187952"/>
            <a:ext cx="0" cy="201168"/>
          </a:xfrm>
          <a:prstGeom prst="line">
            <a:avLst/>
          </a:prstGeom>
          <a:noFill/>
          <a:ln w="19050">
            <a:solidFill>
              <a:srgbClr val="9AA7C4"/>
            </a:solidFill>
            <a:prstDash val="solid"/>
            <a:headEnd type="triangl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66928" y="4389120"/>
            <a:ext cx="1554480" cy="603504"/>
          </a:xfrm>
          <a:prstGeom prst="roundRect">
            <a:avLst>
              <a:gd name="adj" fmla="val 9091"/>
            </a:avLst>
          </a:prstGeom>
          <a:solidFill>
            <a:srgbClr val="2E3A78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4389120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執行結果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286000" y="4389120"/>
            <a:ext cx="3840480" cy="603504"/>
          </a:xfrm>
          <a:prstGeom prst="roundRect">
            <a:avLst>
              <a:gd name="adj" fmla="val 9091"/>
            </a:avLst>
          </a:prstGeom>
          <a:solidFill>
            <a:srgbClr val="EEF3FB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0" y="438912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通過 ｜ DB 未新增 seq／summary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212080"/>
            <a:ext cx="5559552" cy="1051560"/>
          </a:xfrm>
          <a:prstGeom prst="roundRect">
            <a:avLst>
              <a:gd name="adj" fmla="val 6957"/>
            </a:avLst>
          </a:prstGeom>
          <a:solidFill>
            <a:srgbClr val="EEF3FB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349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RTM 回答放行前的三個問題：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68680" y="5715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該測的都測了嗎？ ｜ 證據在哪裡？ ｜ 缺口剩哪些？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83680" y="1371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風險基準：以 EPROZ00200 風險排優先序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040880" y="1920240"/>
            <a:ext cx="2194560" cy="1463040"/>
          </a:xfrm>
          <a:prstGeom prst="roundRect">
            <a:avLst>
              <a:gd name="adj" fmla="val 3750"/>
            </a:avLst>
          </a:prstGeom>
          <a:solidFill>
            <a:srgbClr val="FDF3E3"/>
          </a:solidFill>
          <a:ln/>
        </p:spPr>
      </p:sp>
      <p:sp>
        <p:nvSpPr>
          <p:cNvPr id="29" name="Text 27"/>
          <p:cNvSpPr/>
          <p:nvPr/>
        </p:nvSpPr>
        <p:spPr>
          <a:xfrm>
            <a:off x="7150608" y="219456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高影響 × 低可能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150608" y="2551176"/>
            <a:ext cx="19751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自動測試＋抽樣審核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例：TC-013　案號併發重複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326880" y="1920240"/>
            <a:ext cx="2194560" cy="1463040"/>
          </a:xfrm>
          <a:prstGeom prst="roundRect">
            <a:avLst>
              <a:gd name="adj" fmla="val 3750"/>
            </a:avLst>
          </a:prstGeom>
          <a:solidFill>
            <a:srgbClr val="FBEAE8"/>
          </a:solidFill>
          <a:ln/>
        </p:spPr>
      </p:sp>
      <p:sp>
        <p:nvSpPr>
          <p:cNvPr id="32" name="Text 30"/>
          <p:cNvSpPr/>
          <p:nvPr/>
        </p:nvSpPr>
        <p:spPr>
          <a:xfrm>
            <a:off x="9436608" y="219456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高影響 × 高可能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436608" y="2551176"/>
            <a:ext cx="19751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優先測試＋逐案審核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例：TC-012　交易回滾未完整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040880" y="3474720"/>
            <a:ext cx="2194560" cy="1463040"/>
          </a:xfrm>
          <a:prstGeom prst="roundRect">
            <a:avLst>
              <a:gd name="adj" fmla="val 3750"/>
            </a:avLst>
          </a:prstGeom>
          <a:solidFill>
            <a:srgbClr val="E8F6EE"/>
          </a:solidFill>
          <a:ln/>
        </p:spPr>
      </p:sp>
      <p:sp>
        <p:nvSpPr>
          <p:cNvPr id="35" name="Text 33"/>
          <p:cNvSpPr/>
          <p:nvPr/>
        </p:nvSpPr>
        <p:spPr>
          <a:xfrm>
            <a:off x="7150608" y="374904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9E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低影響 × 低可能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150608" y="4105656"/>
            <a:ext cx="19751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自動測試、自動放行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例：TC-009　revised item 顯示文字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326880" y="3474720"/>
            <a:ext cx="2194560" cy="1463040"/>
          </a:xfrm>
          <a:prstGeom prst="roundRect">
            <a:avLst>
              <a:gd name="adj" fmla="val 3750"/>
            </a:avLst>
          </a:prstGeom>
          <a:solidFill>
            <a:srgbClr val="FDF3E3"/>
          </a:solidFill>
          <a:ln/>
        </p:spPr>
      </p:sp>
      <p:sp>
        <p:nvSpPr>
          <p:cNvPr id="38" name="Text 36"/>
          <p:cNvSpPr/>
          <p:nvPr/>
        </p:nvSpPr>
        <p:spPr>
          <a:xfrm>
            <a:off x="9436608" y="374904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55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低影響 × 高可能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9436608" y="4105656"/>
            <a:ext cx="19751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自動測試＋抽樣審核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例：TC-002　loan type 下拉篩選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903720" y="1920240"/>
            <a:ext cx="0" cy="3063240"/>
          </a:xfrm>
          <a:prstGeom prst="line">
            <a:avLst/>
          </a:prstGeom>
          <a:noFill/>
          <a:ln w="19050">
            <a:solidFill>
              <a:srgbClr val="5A6478"/>
            </a:solidFill>
            <a:prstDash val="solid"/>
            <a:headEnd type="triangle"/>
          </a:ln>
        </p:spPr>
      </p:sp>
      <p:sp>
        <p:nvSpPr>
          <p:cNvPr id="41" name="Shape 39"/>
          <p:cNvSpPr/>
          <p:nvPr/>
        </p:nvSpPr>
        <p:spPr>
          <a:xfrm>
            <a:off x="6903720" y="4983480"/>
            <a:ext cx="4754880" cy="0"/>
          </a:xfrm>
          <a:prstGeom prst="line">
            <a:avLst/>
          </a:prstGeom>
          <a:noFill/>
          <a:ln w="19050">
            <a:solidFill>
              <a:srgbClr val="5A6478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 rot="16200000">
            <a:off x="6583680" y="2286000"/>
            <a:ext cx="274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影響程度 →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503920" y="5074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發生可能性 →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583680" y="5760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指標「風險覆蓋率」＝ 高風險測試條件中已展開案例並執行的比例（本案 4／5 ＝ 80%，缺口為 TC-011 CU 續約／變更）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66928" y="647395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B2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參考：ISTQB Glossary — Traceability Matrix　https://istqb-glossary.page/traceability-matrix/　｜　TestRail《Requirements Traceability Matrix》https://www.testrail.com/blog/requirements-traceability-matrix/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1064240" y="64739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7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決策儀表板 ｜ EPROZ00200 New Case Application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放行與否，讓數據說話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576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92%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176272" y="159105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測試條件覆蓋率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2176272" y="1956816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條中 12 條已有案例並執行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2724912"/>
            <a:ext cx="3291840" cy="155448"/>
          </a:xfrm>
          <a:prstGeom prst="roundRect">
            <a:avLst>
              <a:gd name="adj" fmla="val 294118"/>
            </a:avLst>
          </a:prstGeom>
          <a:solidFill>
            <a:srgbClr val="E5E9F2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724912"/>
            <a:ext cx="3160166" cy="155448"/>
          </a:xfrm>
          <a:prstGeom prst="roundRect">
            <a:avLst>
              <a:gd name="adj" fmla="val 294118"/>
            </a:avLst>
          </a:prstGeom>
          <a:solidFill>
            <a:srgbClr val="02C39A"/>
          </a:solidFill>
          <a:ln/>
        </p:spPr>
      </p:sp>
      <p:sp>
        <p:nvSpPr>
          <p:cNvPr id="10" name="Shape 8"/>
          <p:cNvSpPr/>
          <p:nvPr/>
        </p:nvSpPr>
        <p:spPr>
          <a:xfrm>
            <a:off x="4389120" y="1371600"/>
            <a:ext cx="36576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E0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554480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87.5%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016752" y="159105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測試案例通過率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016752" y="1956816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72 案例：63 通過 ｜ 9 未過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0" y="2724912"/>
            <a:ext cx="3291840" cy="155448"/>
          </a:xfrm>
          <a:prstGeom prst="roundRect">
            <a:avLst>
              <a:gd name="adj" fmla="val 294118"/>
            </a:avLst>
          </a:prstGeom>
          <a:solidFill>
            <a:srgbClr val="E5E9F2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0" y="2724912"/>
            <a:ext cx="3048244" cy="155448"/>
          </a:xfrm>
          <a:prstGeom prst="roundRect">
            <a:avLst>
              <a:gd name="adj" fmla="val 294118"/>
            </a:avLst>
          </a:prstGeom>
          <a:solidFill>
            <a:srgbClr val="2E3A78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0" y="1371600"/>
            <a:ext cx="33832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155448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9601200" y="15910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高風險未解缺陷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601200" y="195681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DEF-001 交易回滾、DEF-002 案號併發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412480" y="2670048"/>
            <a:ext cx="1371600" cy="274320"/>
          </a:xfrm>
          <a:prstGeom prst="roundRect">
            <a:avLst>
              <a:gd name="adj" fmla="val 166667"/>
            </a:avLst>
          </a:prstGeom>
          <a:solidFill>
            <a:srgbClr val="FBEAE8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2670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未達放行標準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" y="33101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測試案例通過率（節選 4 條，共 13 條）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" y="3749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TC-004 必填驗證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65960" y="374904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8／8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697480" y="3749040"/>
            <a:ext cx="3383280" cy="292608"/>
          </a:xfrm>
          <a:prstGeom prst="roundRect">
            <a:avLst>
              <a:gd name="adj" fmla="val 12500"/>
            </a:avLst>
          </a:prstGeom>
          <a:solidFill>
            <a:srgbClr val="EEF1F7"/>
          </a:solidFill>
          <a:ln/>
        </p:spPr>
      </p:sp>
      <p:sp>
        <p:nvSpPr>
          <p:cNvPr id="26" name="Shape 24"/>
          <p:cNvSpPr/>
          <p:nvPr/>
        </p:nvSpPr>
        <p:spPr>
          <a:xfrm>
            <a:off x="2697480" y="3749040"/>
            <a:ext cx="3383280" cy="292608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0" y="374904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" y="426110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TC-006 Direct Add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965960" y="426110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14／15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697480" y="4261104"/>
            <a:ext cx="3383280" cy="292608"/>
          </a:xfrm>
          <a:prstGeom prst="roundRect">
            <a:avLst>
              <a:gd name="adj" fmla="val 12500"/>
            </a:avLst>
          </a:prstGeom>
          <a:solidFill>
            <a:srgbClr val="EEF1F7"/>
          </a:solidFill>
          <a:ln/>
        </p:spPr>
      </p:sp>
      <p:sp>
        <p:nvSpPr>
          <p:cNvPr id="31" name="Shape 29"/>
          <p:cNvSpPr/>
          <p:nvPr/>
        </p:nvSpPr>
        <p:spPr>
          <a:xfrm>
            <a:off x="2697480" y="4261104"/>
            <a:ext cx="3146450" cy="292608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6172200" y="426110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93%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6928" y="47731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TC-010 IS 追加複製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965960" y="477316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12／16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697480" y="4773168"/>
            <a:ext cx="3383280" cy="292608"/>
          </a:xfrm>
          <a:prstGeom prst="roundRect">
            <a:avLst>
              <a:gd name="adj" fmla="val 12500"/>
            </a:avLst>
          </a:prstGeom>
          <a:solidFill>
            <a:srgbClr val="EEF1F7"/>
          </a:solidFill>
          <a:ln/>
        </p:spPr>
      </p:sp>
      <p:sp>
        <p:nvSpPr>
          <p:cNvPr id="36" name="Shape 34"/>
          <p:cNvSpPr/>
          <p:nvPr/>
        </p:nvSpPr>
        <p:spPr>
          <a:xfrm>
            <a:off x="2697480" y="4773168"/>
            <a:ext cx="2537460" cy="292608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/>
        </p:spPr>
      </p:sp>
      <p:sp>
        <p:nvSpPr>
          <p:cNvPr id="37" name="Text 35"/>
          <p:cNvSpPr/>
          <p:nvPr/>
        </p:nvSpPr>
        <p:spPr>
          <a:xfrm>
            <a:off x="6172200" y="477316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75%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6928" y="52852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TC-012 交易回滾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965960" y="528523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3／6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697480" y="5285232"/>
            <a:ext cx="3383280" cy="292608"/>
          </a:xfrm>
          <a:prstGeom prst="roundRect">
            <a:avLst>
              <a:gd name="adj" fmla="val 12500"/>
            </a:avLst>
          </a:prstGeom>
          <a:solidFill>
            <a:srgbClr val="EEF1F7"/>
          </a:solidFill>
          <a:ln/>
        </p:spPr>
      </p:sp>
      <p:sp>
        <p:nvSpPr>
          <p:cNvPr id="41" name="Shape 39"/>
          <p:cNvSpPr/>
          <p:nvPr/>
        </p:nvSpPr>
        <p:spPr>
          <a:xfrm>
            <a:off x="2697480" y="5285232"/>
            <a:ext cx="1691640" cy="292608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/>
        </p:spPr>
      </p:sp>
      <p:sp>
        <p:nvSpPr>
          <p:cNvPr id="42" name="Text 40"/>
          <p:cNvSpPr/>
          <p:nvPr/>
        </p:nvSpPr>
        <p:spPr>
          <a:xfrm>
            <a:off x="6172200" y="528523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50%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697480" y="5669280"/>
            <a:ext cx="3383280" cy="0"/>
          </a:xfrm>
          <a:prstGeom prst="line">
            <a:avLst/>
          </a:prstGeom>
          <a:noFill/>
          <a:ln w="12700">
            <a:solidFill>
              <a:srgbClr val="D8E0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60320" y="572414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251960" y="572414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897880" y="572414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100%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66928" y="5989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節選 4 條合計 37／45 案例通過；其餘 9 條合計 26／27 —— 全體 63／72 ＝ 87.5%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315200" y="3703320"/>
            <a:ext cx="4297680" cy="260604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</p:spPr>
      </p:sp>
      <p:sp>
        <p:nvSpPr>
          <p:cNvPr id="49" name="Text 47"/>
          <p:cNvSpPr/>
          <p:nvPr/>
        </p:nvSpPr>
        <p:spPr>
          <a:xfrm>
            <a:off x="7635240" y="38862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放行規則（事先議定）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635240" y="4315968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高風險未解缺陷 ＝ 0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風險覆蓋率 ≥ 95%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高優先案例通過率 ≥ 98%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三項全達標亮綠燈，核可後上 UAT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7635240" y="55321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目前狀態：未達標（高風險缺陷 2 ＞ 0）</a:t>
            </a:r>
            <a:endParaRPr lang="en-US" sz="1200" dirty="0"/>
          </a:p>
          <a:p>
            <a:pPr indent="0" marL="0">
              <a:buNone/>
            </a:pPr>
            <a:r>
              <a:rPr lang="en-US" sz="1200" b="1" i="1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需先修復 DEF-001 交易回滾並定案 TBD-003。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1064240" y="64739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7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66928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附錄｜測試層級 Test Levels</a:t>
            </a:r>
            <a:endParaRPr lang="en-US" sz="1200" b="1" dirty="0"/>
          </a:p>
        </p:txBody>
      </p:sp>
      <p:sp>
        <p:nvSpPr>
          <p:cNvPr id="3" name="Text 3"/>
          <p:cNvSpPr/>
          <p:nvPr/>
        </p:nvSpPr>
        <p:spPr>
          <a:xfrm>
            <a:off x="54864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 RTM 還不夠：不同層級的測試各自擋什麼</a:t>
            </a:r>
            <a:endParaRPr lang="en-US" sz="2700" b="1" dirty="0"/>
          </a:p>
        </p:txBody>
      </p:sp>
      <p:sp>
        <p:nvSpPr>
          <p:cNvPr id="4" name="Band 4"/>
          <p:cNvSpPr/>
          <p:nvPr/>
        </p:nvSpPr>
        <p:spPr>
          <a:xfrm>
            <a:off x="2407920" y="1481328"/>
            <a:ext cx="1584960" cy="1310640"/>
          </a:xfrm>
          <a:custGeom>
            <a:avLst/>
            <a:gdLst/>
            <a:ahLst/>
            <a:cxnLst/>
            <a:rect l="0" t="0" r="r" b="b"/>
            <a:pathLst>
              <a:path w="1584960" h="1310640">
                <a:moveTo>
                  <a:pt x="792480" y="0"/>
                </a:moveTo>
                <a:lnTo>
                  <a:pt x="1584960" y="1310640"/>
                </a:lnTo>
                <a:lnTo>
                  <a:pt x="0" y="1310640"/>
                </a:lnTo>
                <a:close/>
              </a:path>
            </a:pathLst>
          </a:custGeom>
          <a:solidFill>
            <a:srgbClr val="1E2761"/>
          </a:solidFill>
          <a:ln/>
        </p:spPr>
      </p:sp>
      <p:sp>
        <p:nvSpPr>
          <p:cNvPr id="5" name="Band 5"/>
          <p:cNvSpPr/>
          <p:nvPr/>
        </p:nvSpPr>
        <p:spPr>
          <a:xfrm>
            <a:off x="1615440" y="2791968"/>
            <a:ext cx="3169920" cy="1310640"/>
          </a:xfrm>
          <a:custGeom>
            <a:avLst/>
            <a:gdLst/>
            <a:ahLst/>
            <a:cxnLst/>
            <a:rect l="0" t="0" r="r" b="b"/>
            <a:pathLst>
              <a:path w="3169920" h="1310640">
                <a:moveTo>
                  <a:pt x="792480" y="0"/>
                </a:moveTo>
                <a:lnTo>
                  <a:pt x="2377440" y="0"/>
                </a:lnTo>
                <a:lnTo>
                  <a:pt x="3169920" y="1310640"/>
                </a:lnTo>
                <a:lnTo>
                  <a:pt x="0" y="1310640"/>
                </a:lnTo>
                <a:close/>
              </a:path>
            </a:pathLst>
          </a:custGeom>
          <a:solidFill>
            <a:srgbClr val="028090"/>
          </a:solidFill>
          <a:ln/>
        </p:spPr>
      </p:sp>
      <p:sp>
        <p:nvSpPr>
          <p:cNvPr id="6" name="Band 6"/>
          <p:cNvSpPr/>
          <p:nvPr/>
        </p:nvSpPr>
        <p:spPr>
          <a:xfrm>
            <a:off x="822960" y="4102608"/>
            <a:ext cx="4754880" cy="1310640"/>
          </a:xfrm>
          <a:custGeom>
            <a:avLst/>
            <a:gdLst/>
            <a:ahLst/>
            <a:cxnLst/>
            <a:rect l="0" t="0" r="r" b="b"/>
            <a:pathLst>
              <a:path w="4754880" h="1310640">
                <a:moveTo>
                  <a:pt x="792480" y="0"/>
                </a:moveTo>
                <a:lnTo>
                  <a:pt x="3962400" y="0"/>
                </a:lnTo>
                <a:lnTo>
                  <a:pt x="4754880" y="1310640"/>
                </a:lnTo>
                <a:lnTo>
                  <a:pt x="0" y="1310640"/>
                </a:lnTo>
                <a:close/>
              </a:path>
            </a:pathLst>
          </a:custGeom>
          <a:solidFill>
            <a:srgbClr val="D7ECEF"/>
          </a:solidFill>
          <a:ln/>
        </p:spPr>
      </p:sp>
      <p:sp>
        <p:nvSpPr>
          <p:cNvPr id="7" name="Text 7"/>
          <p:cNvSpPr/>
          <p:nvPr/>
        </p:nvSpPr>
        <p:spPr>
          <a:xfrm>
            <a:off x="2377440" y="24079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E2E ≈ 10%</a:t>
            </a:r>
            <a:endParaRPr lang="en-US" sz="1100" b="1" dirty="0"/>
          </a:p>
        </p:txBody>
      </p:sp>
      <p:sp>
        <p:nvSpPr>
          <p:cNvPr id="8" name="Text 8"/>
          <p:cNvSpPr/>
          <p:nvPr/>
        </p:nvSpPr>
        <p:spPr>
          <a:xfrm>
            <a:off x="1920240" y="368198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整合測試 ≈ 20%</a:t>
            </a:r>
            <a:endParaRPr lang="en-US" sz="1250" b="1" dirty="0"/>
          </a:p>
        </p:txBody>
      </p:sp>
      <p:sp>
        <p:nvSpPr>
          <p:cNvPr id="9" name="Text 9"/>
          <p:cNvSpPr/>
          <p:nvPr/>
        </p:nvSpPr>
        <p:spPr>
          <a:xfrm>
            <a:off x="1188720" y="49377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單元測試 ≈ 70%</a:t>
            </a:r>
            <a:endParaRPr lang="en-US" sz="1400" b="1" dirty="0"/>
          </a:p>
        </p:txBody>
      </p:sp>
      <p:sp>
        <p:nvSpPr>
          <p:cNvPr id="10" name="Text 10"/>
          <p:cNvSpPr/>
          <p:nvPr/>
        </p:nvSpPr>
        <p:spPr>
          <a:xfrm>
            <a:off x="566928" y="187452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↑ 越上層</a:t>
            </a:r>
            <a:endParaRPr lang="en-US" sz="1050" b="1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越接近真實使用者，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也越慢、越貴、越易不穩</a:t>
            </a:r>
            <a:endParaRPr lang="en-US" sz="1000" dirty="0"/>
          </a:p>
        </p:txBody>
      </p:sp>
      <p:sp>
        <p:nvSpPr>
          <p:cNvPr id="11" name="Text 11"/>
          <p:cNvSpPr/>
          <p:nvPr/>
        </p:nvSpPr>
        <p:spPr>
          <a:xfrm>
            <a:off x="566928" y="5504688"/>
            <a:ext cx="5010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 越下層：數量最多、秒級回饋、成本最低，改壞了馬上知道</a:t>
            </a:r>
            <a:endParaRPr lang="en-US" sz="1050" b="1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產測試的主力應落在下兩層，而非全押 E2E</a:t>
            </a:r>
            <a:endParaRPr lang="en-US" sz="1000" dirty="0"/>
          </a:p>
        </p:txBody>
      </p:sp>
      <p:sp>
        <p:nvSpPr>
          <p:cNvPr id="12" name="Shape 12"/>
          <p:cNvSpPr/>
          <p:nvPr/>
        </p:nvSpPr>
        <p:spPr>
          <a:xfrm>
            <a:off x="5989320" y="1481328"/>
            <a:ext cx="5650992" cy="1298448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/>
        </p:spPr>
      </p:sp>
      <p:sp>
        <p:nvSpPr>
          <p:cNvPr id="13" name="Shape 13"/>
          <p:cNvSpPr/>
          <p:nvPr/>
        </p:nvSpPr>
        <p:spPr>
          <a:xfrm>
            <a:off x="6190488" y="1755648"/>
            <a:ext cx="82296" cy="7498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4" name="Text 14"/>
          <p:cNvSpPr/>
          <p:nvPr/>
        </p:nvSpPr>
        <p:spPr>
          <a:xfrm>
            <a:off x="6428232" y="1664208"/>
            <a:ext cx="4965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端對端 E2E ／ UAT</a:t>
            </a:r>
            <a:endParaRPr lang="en-US" sz="1300" b="1" dirty="0"/>
          </a:p>
        </p:txBody>
      </p:sp>
      <p:sp>
        <p:nvSpPr>
          <p:cNvPr id="15" name="Text 15"/>
          <p:cNvSpPr/>
          <p:nvPr/>
        </p:nvSpPr>
        <p:spPr>
          <a:xfrm>
            <a:off x="6428232" y="1993392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抓什麼：驗真實流程：畫面 → API → DB 全鏈路</a:t>
            </a:r>
            <a:endParaRPr lang="en-US" sz="1100" dirty="0"/>
          </a:p>
        </p:txBody>
      </p:sp>
      <p:sp>
        <p:nvSpPr>
          <p:cNvPr id="16" name="Text 16"/>
          <p:cNvSpPr/>
          <p:nvPr/>
        </p:nvSpPr>
        <p:spPr>
          <a:xfrm>
            <a:off x="6428232" y="2286000"/>
            <a:ext cx="4965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代價：代價最高：慢、環境依賴重、易 flaky；只驗關鍵路徑（如 direct add 建案成功導向第一頁）</a:t>
            </a:r>
            <a:endParaRPr lang="en-US" sz="1000" dirty="0"/>
          </a:p>
        </p:txBody>
      </p:sp>
      <p:sp>
        <p:nvSpPr>
          <p:cNvPr id="17" name="Shape 17"/>
          <p:cNvSpPr/>
          <p:nvPr/>
        </p:nvSpPr>
        <p:spPr>
          <a:xfrm>
            <a:off x="5989320" y="2898648"/>
            <a:ext cx="5650992" cy="1298448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/>
        </p:spPr>
      </p:sp>
      <p:sp>
        <p:nvSpPr>
          <p:cNvPr id="18" name="Shape 18"/>
          <p:cNvSpPr/>
          <p:nvPr/>
        </p:nvSpPr>
        <p:spPr>
          <a:xfrm>
            <a:off x="6190488" y="3172968"/>
            <a:ext cx="82296" cy="7498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9" name="Text 19"/>
          <p:cNvSpPr/>
          <p:nvPr/>
        </p:nvSpPr>
        <p:spPr>
          <a:xfrm>
            <a:off x="6428232" y="3081528"/>
            <a:ext cx="4965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整合測試 Integration</a:t>
            </a:r>
            <a:endParaRPr lang="en-US" sz="1300" b="1" dirty="0"/>
          </a:p>
        </p:txBody>
      </p:sp>
      <p:sp>
        <p:nvSpPr>
          <p:cNvPr id="20" name="Text 20"/>
          <p:cNvSpPr/>
          <p:nvPr/>
        </p:nvSpPr>
        <p:spPr>
          <a:xfrm>
            <a:off x="6428232" y="3410712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抓什麼：驗跨元件行為：API＋DB 交易、資料複製</a:t>
            </a:r>
            <a:endParaRPr lang="en-US" sz="1100" dirty="0"/>
          </a:p>
        </p:txBody>
      </p:sp>
      <p:sp>
        <p:nvSpPr>
          <p:cNvPr id="21" name="Text 21"/>
          <p:cNvSpPr/>
          <p:nvPr/>
        </p:nvSpPr>
        <p:spPr>
          <a:xfrm>
            <a:off x="6428232" y="3703320"/>
            <a:ext cx="4965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代價：代價中等：需測試資料與環境；本案主戰場——copy 矩陣、交易回滾（TC-012）、案號併發（TC-013）</a:t>
            </a:r>
            <a:endParaRPr lang="en-US" sz="1000" dirty="0"/>
          </a:p>
        </p:txBody>
      </p:sp>
      <p:sp>
        <p:nvSpPr>
          <p:cNvPr id="22" name="Shape 22"/>
          <p:cNvSpPr/>
          <p:nvPr/>
        </p:nvSpPr>
        <p:spPr>
          <a:xfrm>
            <a:off x="5989320" y="4315968"/>
            <a:ext cx="5650992" cy="1298448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/>
        </p:spPr>
      </p:sp>
      <p:sp>
        <p:nvSpPr>
          <p:cNvPr id="23" name="Shape 23"/>
          <p:cNvSpPr/>
          <p:nvPr/>
        </p:nvSpPr>
        <p:spPr>
          <a:xfrm>
            <a:off x="6190488" y="4590288"/>
            <a:ext cx="82296" cy="7498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4" name="Text 24"/>
          <p:cNvSpPr/>
          <p:nvPr/>
        </p:nvSpPr>
        <p:spPr>
          <a:xfrm>
            <a:off x="6428232" y="4498848"/>
            <a:ext cx="4965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單元測試 Unit</a:t>
            </a:r>
            <a:endParaRPr lang="en-US" sz="1300" b="1" dirty="0"/>
          </a:p>
        </p:txBody>
      </p:sp>
      <p:sp>
        <p:nvSpPr>
          <p:cNvPr id="25" name="Text 25"/>
          <p:cNvSpPr/>
          <p:nvPr/>
        </p:nvSpPr>
        <p:spPr>
          <a:xfrm>
            <a:off x="6428232" y="4828032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抓什麼：驗單一規則：純函式、驗證邏輯、組字規則</a:t>
            </a:r>
            <a:endParaRPr lang="en-US" sz="1100" dirty="0"/>
          </a:p>
        </p:txBody>
      </p:sp>
      <p:sp>
        <p:nvSpPr>
          <p:cNvPr id="26" name="Text 26"/>
          <p:cNvSpPr/>
          <p:nvPr/>
        </p:nvSpPr>
        <p:spPr>
          <a:xfrm>
            <a:off x="6428232" y="5120640"/>
            <a:ext cx="4965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代價：代價最低：毫秒級、每次 commit 跑；如案號組字（REQ-005）、address left-pad、loan type 篩選</a:t>
            </a:r>
            <a:endParaRPr lang="en-US" sz="1000" dirty="0"/>
          </a:p>
        </p:txBody>
      </p:sp>
      <p:sp>
        <p:nvSpPr>
          <p:cNvPr id="27" name="Shape 27"/>
          <p:cNvSpPr/>
          <p:nvPr/>
        </p:nvSpPr>
        <p:spPr>
          <a:xfrm>
            <a:off x="5989320" y="5760720"/>
            <a:ext cx="5650992" cy="658368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</p:sp>
      <p:sp>
        <p:nvSpPr>
          <p:cNvPr id="28" name="Text 28"/>
          <p:cNvSpPr/>
          <p:nvPr/>
        </p:nvSpPr>
        <p:spPr>
          <a:xfrm>
            <a:off x="6263640" y="5852160"/>
            <a:ext cx="51023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RTM 證明「需求都有測試」；金字塔決定「這些測試值不值得信」。</a:t>
            </a:r>
            <a:endParaRPr lang="en-US" sz="1050" b="1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若只有最上層通過，等於用最貴、最慢、最不穩的一層扛全部風險。</a:t>
            </a:r>
            <a:endParaRPr lang="en-US" sz="1000" dirty="0"/>
          </a:p>
        </p:txBody>
      </p:sp>
      <p:sp>
        <p:nvSpPr>
          <p:cNvPr id="29" name="Text 29"/>
          <p:cNvSpPr/>
          <p:nvPr/>
        </p:nvSpPr>
        <p:spPr>
          <a:xfrm>
            <a:off x="566928" y="647395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參考：Martin Fowler《The Practical Test Pyramid》　https://martinfowler.com/articles/practical-test-pyramid.html　｜　Google Testing Blog《Test Sizes》</a:t>
            </a:r>
            <a:endParaRPr lang="en-US" sz="800" dirty="0"/>
          </a:p>
        </p:txBody>
      </p:sp>
      <p:sp>
        <p:nvSpPr>
          <p:cNvPr id="30" name="Text 30"/>
          <p:cNvSpPr/>
          <p:nvPr/>
        </p:nvSpPr>
        <p:spPr>
          <a:xfrm>
            <a:off x="11064240" y="64739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2026-08-03T01:54:26Z</dcterms:created>
  <dcterms:modified xsi:type="dcterms:W3CDTF">2026-08-03T01:54:26Z</dcterms:modified>
</cp:coreProperties>
</file>