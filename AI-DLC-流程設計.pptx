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本簡報說明團隊導入 AI-DLC 的流程設計：主流程四階段、Skill 分類與清單、RTM 增量維護，以及需求異動的四級重入機制。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原則一對應 AI-DLC 的核心迴圈：AI 提計畫、提問澄清、人類核可後才實作。原則三是本次設計最關鍵的補強。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這一頁只講骨架。每個階段的 Skill、產出物與確認角色在下一頁展開。白色小標籤是該階段的主要產出物。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第三階段 PG 與 QA 雙線平行，兩條線都以 SRS 與 AC 為輸入，QA 不從程式碼反推測試，否則測試只驗證了實作本身。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先用四大類建立共識，團隊比較容易理解每個 Skill 存在的目的，而不是被一份長清單淹沒。個別 Skill 可以隨導入進度增減，但四個大類不會變。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清單刻意標示必要與選配，避免導入初期就要開發十幾個 Skill。實作與自動化腳本兩項，現有 coding agent 已經堪用，優先權最低。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QA Skill 定位成 RTM 維護 Skill，在①②③各跑一次增量更新。若改成階段②一次產完，①的對應無人維護、③的對應根本還不存在。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 的粒度完全依賴階段②的 Unit of Work 拆分。若拆分做得不好，L2 會退化成 L3，異動成本大幅上升。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 最大的風險不是技術，而是判斷失準。務必由影響分析 Skill 認定，不是由開發者自行判斷「這個很小」。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常被誤判為 L0。判斷依據很單純：只要 RTM 上有任何一條 AC 被修改，就是 L1 起跳。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 能否只局部重跑，完全取決於階段②的 Unit of Work 拆分品質。邊界清楚，L2 就便宜；邊界模糊，L2 就變 L3。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L3 應該是少數。若 L3 頻繁出現，代表階段①的需求釐清做得不夠深，或 Unit of Work 切得太細碎。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導入順序刻意把前期與治理 Skill 排在前面，因為團隊真正的瓶頸與價值都在需求與設計階段，不在寫程式碼那一段。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4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 導入設計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Skill 驅動的角色協作流程，與需求異動的重入機制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需求釐清  →  拆分與設計  →  開發與測試  →  整合與驗收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三個設計原則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這三點決定流程能不能撐過第三個月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075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先提問，人回答，才產出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1848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 Skill 第一步輸出的是疑問清單，不是 PRD。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直接產 PRD 等於讓 AI 腦補填空，代價會在開發階段付。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963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文件即真相，全部進版控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8072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/ SRS / RTM 進 git，異動走 PR review。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允許一次「小改直接動 code」，追溯表就開始腐爛。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8503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是異動能局部重入的前提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99592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需求→AC→TC→模組 的對應鏈，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就無法界定影響範圍，任何異動都只能從頭走。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四個階段，每階段結束都有人工確認關卡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423160"/>
          </a:xfrm>
          <a:prstGeom prst="roundRect">
            <a:avLst>
              <a:gd name="adj" fmla="val 381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572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需求釐清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把業務意圖轉成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沒有歧義的需求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與可驗證的條件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291840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918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95728" y="2578608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1371600"/>
            <a:ext cx="1920240" cy="2423160"/>
          </a:xfrm>
          <a:prstGeom prst="roundRect">
            <a:avLst>
              <a:gd name="adj" fmla="val 381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572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2121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拆分與設計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2468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決定技術怎麼做，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並切出可平行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交付的工作單元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97480" y="3291840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32918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98848" y="2578608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63440" y="1371600"/>
            <a:ext cx="1920240" cy="2423160"/>
          </a:xfrm>
          <a:prstGeom prst="roundRect">
            <a:avLst>
              <a:gd name="adj" fmla="val 381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1572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2121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開發與測試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00600" y="2468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開發與測試雙線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平行，兩者都從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規格出發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291840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2918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 + 腳本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01968" y="2578608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66560" y="1371600"/>
            <a:ext cx="1920240" cy="2423160"/>
          </a:xfrm>
          <a:prstGeom prst="roundRect">
            <a:avLst>
              <a:gd name="adj" fmla="val 381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572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66560" y="2121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整合與驗收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2468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回歸測試並確認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每一條驗收條件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都被涵蓋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03720" y="3291840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2918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驗收報告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04164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416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每階段的固定迴圈：AI 提問澄清  →  AI 產出草案  →  人工審查核可  →  才進入下一階段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主流程細節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每階段：使用的 Skill、產出物、確認角色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417320" cy="36576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344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74520" y="1234440"/>
            <a:ext cx="3291840" cy="36576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4248" y="123444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 Skill 與順序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66360" y="1234440"/>
            <a:ext cx="2148840" cy="36576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6088" y="123444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0" y="1234440"/>
            <a:ext cx="1371600" cy="36576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4928" y="123444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確認角色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1417320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60020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需求釐清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74520" y="1600200"/>
            <a:ext cx="3291840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160020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需求提問 Skill → 疑問清單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PRD Skill → 需求本文 + AC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RTM 維護 Skill → 建立 REQ→AC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66360" y="1600200"/>
            <a:ext cx="2148840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1600200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PRD（REQ-nnn / AC-nnn）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骨架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1600200"/>
            <a:ext cx="1371600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160020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SA + QA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共同確認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1417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37744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拆分與設計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74520" y="2377440"/>
            <a:ext cx="3291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84248" y="23774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架構設計 Skill → SRS + Unit of Work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測試案例 Skill → 依 SRS 與 AC 產 TC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RTM 維護 Skill → 補 AC→TC、REQ→Unit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66360" y="2377440"/>
            <a:ext cx="2148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088" y="2377440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+ Unit of Work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測試案例 TC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第二層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0" y="2377440"/>
            <a:ext cx="1371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4928" y="237744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+ PG + QA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共同確認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154680"/>
            <a:ext cx="1417320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15468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開發與測試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154680"/>
            <a:ext cx="3291840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84248" y="315468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線：UT 生成 Skill（先）→ 實作 Skill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線：自動化腳本 Skill（成本高則人工）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收尾：RTM 維護 Skill 補 TC→腳本、REQ→模組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3154680"/>
            <a:ext cx="2148840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76088" y="3154680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 + 單元測試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自動化腳本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第三層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3154680"/>
            <a:ext cx="1371600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315468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/ QA 分頭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靜態檢查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1417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93192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整合與驗收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3931920"/>
            <a:ext cx="3291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84248" y="393192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回歸測試 + RTM 覆蓋率稽核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一致性稽核 Skill → 偵測規格與程式碼漂移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66360" y="3931920"/>
            <a:ext cx="2148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6088" y="3931920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驗收報告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覆蓋率結果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0" y="3931920"/>
            <a:ext cx="1371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24928" y="3931920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QA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驗收簽核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階段②內部有先後順序：必須先有 SRS，TC 才寫得出前置條件、測試資料與預期結果。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分類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先分大類再談個別 Skill，避免一開始就陷入清單細節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釐清類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把模糊的意圖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變成沒有歧義的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需求與驗收條件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320040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004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規格類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60320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把需求變成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可執行的技術規格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與測試案例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71800" y="320040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2004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生成類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把規格變成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程式碼、單元測試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與測試腳本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320040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2004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治理類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66560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2286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維持追溯關係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與規格一致性，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支撐異動判斷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320040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320040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全階段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前三類依階段順序推進；治理類橫跨全程，是異動管理與文件不腐爛的支撐。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可能需要的 Skill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先做「必要」的即可跑通；「選配」視專案性質再加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95928" cy="1645920"/>
          </a:xfrm>
          <a:prstGeom prst="roundRect">
            <a:avLst>
              <a:gd name="adj" fmla="val 3889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07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釐清類 · 階段 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需求提問 Skill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47872" y="1645920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645920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PRD 生成 Skill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47872" y="1947672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947672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221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法規與 NFR 檢核 Skill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47872" y="2249424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249424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選配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90872" y="1234440"/>
            <a:ext cx="3995928" cy="1645920"/>
          </a:xfrm>
          <a:prstGeom prst="roundRect">
            <a:avLst>
              <a:gd name="adj" fmla="val 3889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307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規格類 · 階段 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1618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架構設計（SRS）Skill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81544" y="1645920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81544" y="1645920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73752" y="1920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Unit of Work 拆分 Skill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81544" y="1947672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81544" y="1947672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73752" y="2221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測試案例（TC）Skill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81544" y="2249424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81544" y="2249424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73752" y="25237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契約產生 Skill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81544" y="2551176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81544" y="2551176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選配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3995928" cy="1645920"/>
          </a:xfrm>
          <a:prstGeom prst="roundRect">
            <a:avLst>
              <a:gd name="adj" fmla="val 3889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生成類 · 階段 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401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UT 生成 Skill（TDD 先行）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47872" y="3429000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3429000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" y="3703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實作 Skill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47872" y="3730752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47872" y="3730752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0080" y="4005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自動化腳本 Skill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47872" y="4032504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47872" y="4032504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0080" y="43068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測試資料生成 Skill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547872" y="4334256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4334256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選配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90872" y="3017520"/>
            <a:ext cx="3995928" cy="1645920"/>
          </a:xfrm>
          <a:prstGeom prst="roundRect">
            <a:avLst>
              <a:gd name="adj" fmla="val 3889"/>
            </a:avLst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5464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治理類 · 全階段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73752" y="3401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RTM 維護 Skill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781544" y="3429000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81544" y="3429000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73752" y="3703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影響分析 Skill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781544" y="3730752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81544" y="3730752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73752" y="4005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一致性稽核 Skill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781544" y="4032504"/>
            <a:ext cx="713232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81544" y="4032504"/>
            <a:ext cx="7132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選配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建議首波只做 4 個：需求提問、架構設計、RTM 維護、影響分析。其餘沿用現有 agent 能力即可。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是逐階段長出來的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不是最後才產一份，而是每階段由 RTM 維護 Skill 增量更新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874520"/>
          </a:xfrm>
          <a:prstGeom prst="roundRect">
            <a:avLst>
              <a:gd name="adj" fmla="val 3415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→ AC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514600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產出時建立骨架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95728" y="2286000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371600"/>
            <a:ext cx="1920240" cy="1874520"/>
          </a:xfrm>
          <a:prstGeom prst="roundRect">
            <a:avLst>
              <a:gd name="adj" fmla="val 3415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70048" y="1783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→ TC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→ Unit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0048" y="2514600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與 TC 產出後補第二層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98848" y="2286000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1371600"/>
            <a:ext cx="1920240" cy="1874520"/>
          </a:xfrm>
          <a:prstGeom prst="roundRect">
            <a:avLst>
              <a:gd name="adj" fmla="val 3415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1783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→ 腳本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→ UT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→ 模組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2514600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實作與腳本產出後補第三層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01968" y="2286000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6560" y="1371600"/>
            <a:ext cx="1920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 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76288" y="17830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覆蓋率稽核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76288" y="2514600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不新增對應，只檢查是否有孤兒 AC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01568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01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完整追溯鏈：需求文件  →  REQ  →  AC  →  TC  →  UT / 腳本  →  模組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向下查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1792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改一條 REQ，立刻知道牽動哪些 AC、TC、模組與腳本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64408" y="3931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向上查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29000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任何一支測試失敗，立刻回推是哪一條業務需求出問題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71616" y="393192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覆蓋率查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36208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驗收前確認每條 AC 至少有一個 TC 對應，沒有孤兒需求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需求異動：四級重入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第一步永遠相同 — 先跑影響分析 Skill，再決定進入點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777240" cy="384048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80160"/>
            <a:ext cx="557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等級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1280160"/>
            <a:ext cx="2514600" cy="384048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128016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觸發情境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280160"/>
            <a:ext cx="3337560" cy="384048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128016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重入點與動作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0" y="1280160"/>
            <a:ext cx="1600200" cy="384048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96328" y="128016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重新確認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777240" cy="658368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664208"/>
            <a:ext cx="557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1664208"/>
            <a:ext cx="2514600" cy="658368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4168" y="1664208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文案、UI 微調，不動 AC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49040" y="1664208"/>
            <a:ext cx="3337560" cy="658368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8768" y="1664208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直接改 SRS / 程式碼，RTM 補記錄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86600" y="1664208"/>
            <a:ext cx="1600200" cy="658368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328" y="1664208"/>
            <a:ext cx="1380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自行處理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322576"/>
            <a:ext cx="777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322576"/>
            <a:ext cx="557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34440" y="2322576"/>
            <a:ext cx="2514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4168" y="2322576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驗收條件變了，需求範圍不變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49040" y="2322576"/>
            <a:ext cx="3337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58768" y="2322576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PRD 的 AC 段落進入，下游局部更新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86600" y="2322576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96328" y="2322576"/>
            <a:ext cx="1380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QA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980944"/>
            <a:ext cx="777240" cy="658368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980944"/>
            <a:ext cx="557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234440" y="2980944"/>
            <a:ext cx="2514600" cy="658368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4168" y="298094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需求本身變更或新增功能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49040" y="2980944"/>
            <a:ext cx="3337560" cy="658368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2980944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回到需求釐清，僅限受影響的 Unit of Work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86600" y="2980944"/>
            <a:ext cx="1600200" cy="658368"/>
          </a:xfrm>
          <a:prstGeom prst="rect">
            <a:avLst/>
          </a:prstGeom>
          <a:solidFill>
            <a:srgbClr val="EEEDF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2980944"/>
            <a:ext cx="1380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SA + QA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639312"/>
            <a:ext cx="777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639312"/>
            <a:ext cx="557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234440" y="3639312"/>
            <a:ext cx="2514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44168" y="3639312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範圍、架構或跨模組資料模型變動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49040" y="3639312"/>
            <a:ext cx="3337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58768" y="3639312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重跑完整需求與設計階段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86600" y="3639312"/>
            <a:ext cx="1600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96328" y="3639312"/>
            <a:ext cx="1380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紀律：異動一律走同一條路徑與同一組關卡，不得繞過直接改程式碼。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L0：不動 AC 的微調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按鈕文案、欄位排版、錯誤訊息用語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663440" y="13533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23560" y="1591056"/>
            <a:ext cx="0" cy="118872"/>
          </a:xfrm>
          <a:prstGeom prst="line">
            <a:avLst/>
          </a:prstGeom>
          <a:noFill/>
          <a:ln w="25400">
            <a:solidFill>
              <a:srgbClr val="BA751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需求釐清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487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拆分與設計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開發與測試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111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整合與驗收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重入起點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574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768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需連動更新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不受影響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3995928" cy="1417320"/>
          </a:xfrm>
          <a:prstGeom prst="roundRect">
            <a:avLst>
              <a:gd name="adj" fmla="val 4516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觸發判斷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32369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影響分析 Skill 比對 RTM 後確認：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沒有任何 AC 條目被變更，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受影響的僅是實作層細節。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834640"/>
            <a:ext cx="3995928" cy="1417320"/>
          </a:xfrm>
          <a:prstGeom prst="roundRect">
            <a:avLst>
              <a:gd name="adj" fmla="val 4516"/>
            </a:avLst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異動範圍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5464" y="32369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對應段落 + 程式碼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若涉及畫面文字，更新對應測試腳本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補一筆變更記錄（不改結構）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重入點：③ 開發與測試　|　關卡：PG 自行處理，CI 通過即可，不需重開確認會議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L1：驗收條件變更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需求本身不變，但判定通過的標準改了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17320" y="1591056"/>
            <a:ext cx="0" cy="118872"/>
          </a:xfrm>
          <a:prstGeom prst="line">
            <a:avLst/>
          </a:prstGeom>
          <a:noFill/>
          <a:ln w="25400">
            <a:solidFill>
              <a:srgbClr val="BA751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需求釐清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487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拆分與設計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開發與測試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111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整合與驗收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重入起點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574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768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需連動更新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不受影響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3995928" cy="1417320"/>
          </a:xfrm>
          <a:prstGeom prst="roundRect">
            <a:avLst>
              <a:gd name="adj" fmla="val 4516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觸發判斷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32369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例：原本「查詢結果 3 秒內回應」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改為「1 秒內回應」。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不變，AC 的門檻值改變。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834640"/>
            <a:ext cx="3995928" cy="1417320"/>
          </a:xfrm>
          <a:prstGeom prst="roundRect">
            <a:avLst>
              <a:gd name="adj" fmla="val 4516"/>
            </a:avLst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異動範圍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5464" y="32369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的 AC 段落（重新編號或加註版本）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 TC 修正 → 測試腳本同步調整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可能牽動 SRS 的技術方案與程式碼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重入點：① 需求釐清（僅 AC 段落）　|　關卡：PM + QA 確認，SA 評估技術可行性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L2：需求變更或新增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只重跑受影響的 Unit of Work，不是整個專案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17320" y="1591056"/>
            <a:ext cx="0" cy="118872"/>
          </a:xfrm>
          <a:prstGeom prst="line">
            <a:avLst/>
          </a:prstGeom>
          <a:noFill/>
          <a:ln w="25400">
            <a:solidFill>
              <a:srgbClr val="BA751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需求釐清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487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拆分與設計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開發與測試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111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整合與驗收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重入起點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574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768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需連動更新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不受影響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3995928" cy="1417320"/>
          </a:xfrm>
          <a:prstGeom prst="roundRect">
            <a:avLst>
              <a:gd name="adj" fmla="val 4516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觸發判斷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32369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例：新增一種付款方式，或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既有流程多一道審核關。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產生新的 REQ，或既有 REQ 改寫。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834640"/>
            <a:ext cx="3995928" cy="1417320"/>
          </a:xfrm>
          <a:prstGeom prst="roundRect">
            <a:avLst>
              <a:gd name="adj" fmla="val 4516"/>
            </a:avLst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異動範圍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5464" y="32369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受影響的 Unit of Work 全線重跑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未受影響的其他 Unit 完全不動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新增 REQ / AC / TC 對應關係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重入點：① 需求釐清（限定 Unit 範圍）　|　關卡：PM + SA + QA 共同確認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L3：範圍或架構層級變動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唯一需要重跑完整流程的情境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17320" y="1591056"/>
            <a:ext cx="0" cy="118872"/>
          </a:xfrm>
          <a:prstGeom prst="line">
            <a:avLst/>
          </a:prstGeom>
          <a:noFill/>
          <a:ln w="25400">
            <a:solidFill>
              <a:srgbClr val="BA751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需求釐清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487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拆分與設計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開發與測試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1112" y="2084832"/>
            <a:ext cx="146304" cy="0"/>
          </a:xfrm>
          <a:prstGeom prst="line">
            <a:avLst/>
          </a:prstGeom>
          <a:noFill/>
          <a:ln w="22225">
            <a:solidFill>
              <a:srgbClr val="7F77D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1755648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75564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整合與驗收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34AB7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重入起點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574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768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需連動更新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0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2505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不受影響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3995928" cy="1417320"/>
          </a:xfrm>
          <a:prstGeom prst="roundRect">
            <a:avLst>
              <a:gd name="adj" fmla="val 4516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觸發判斷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32369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例：跨模組共用的資料模型改變、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專案範圍增減、技術選型更換、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或單一 Unit 的邊界必須重切。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834640"/>
            <a:ext cx="3995928" cy="1417320"/>
          </a:xfrm>
          <a:prstGeom prst="roundRect">
            <a:avLst>
              <a:gd name="adj" fmla="val 4516"/>
            </a:avLst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異動範圍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5464" y="32369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與 SRS 皆需重新檢視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 重新切分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大幅重建，既有程式碼可能重構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重入點：① 需求釐清（完整重跑）　|　關卡：全員參與，等同啟動新一輪 Bolt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34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落地建議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777240"/>
          </a:xfrm>
          <a:prstGeom prst="roundRect">
            <a:avLst>
              <a:gd name="adj" fmla="val 8235"/>
            </a:avLst>
          </a:prstGeom>
          <a:solidFill>
            <a:srgbClr val="534AB7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89304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先做四個 Skill 就能跑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1289304"/>
            <a:ext cx="4800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需求提問、架構設計、RTM 維護、影響分析。實作與腳本兩段現有 agent 已堪用，優先權最低。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130552"/>
            <a:ext cx="8046720" cy="777240"/>
          </a:xfrm>
          <a:prstGeom prst="roundRect">
            <a:avLst>
              <a:gd name="adj" fmla="val 8235"/>
            </a:avLst>
          </a:prstGeom>
          <a:solidFill>
            <a:srgbClr val="534AB7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85416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第一週先定 RTM 格式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2185416"/>
            <a:ext cx="4800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表、YAML、或掛 Jira issue key 都行，但這是骨架，之後要改成本很高。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8046720" cy="777240"/>
          </a:xfrm>
          <a:prstGeom prst="roundRect">
            <a:avLst>
              <a:gd name="adj" fmla="val 8235"/>
            </a:avLst>
          </a:prstGeom>
          <a:solidFill>
            <a:srgbClr val="534AB7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81528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選一個邊界清楚的 pilot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081528"/>
            <a:ext cx="4800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跑完整的 ①→④ 一輪，重點觀察團隊能否接受「AI 提問、人核可」的節奏。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8046720" cy="777240"/>
          </a:xfrm>
          <a:prstGeom prst="roundRect">
            <a:avLst>
              <a:gd name="adj" fmla="val 8235"/>
            </a:avLst>
          </a:prstGeom>
          <a:solidFill>
            <a:srgbClr val="534AB7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刻意演練一次 L2 異動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977640"/>
            <a:ext cx="4800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pilot 中製造一次需求變更，驗證影響分析 Skill 真的能界定範圍。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2026-08-14T07:35:51Z</dcterms:created>
  <dcterms:modified xsi:type="dcterms:W3CDTF">2026-08-14T07:35:51Z</dcterms:modified>
</cp:coreProperties>
</file>